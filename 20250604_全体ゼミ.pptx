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7"/>
  </p:notesMasterIdLst>
  <p:sldIdLst>
    <p:sldId id="256" r:id="rId5"/>
    <p:sldId id="265" r:id="rId6"/>
    <p:sldId id="277" r:id="rId7"/>
    <p:sldId id="275" r:id="rId8"/>
    <p:sldId id="269" r:id="rId9"/>
    <p:sldId id="278" r:id="rId10"/>
    <p:sldId id="268" r:id="rId11"/>
    <p:sldId id="262" r:id="rId12"/>
    <p:sldId id="270" r:id="rId13"/>
    <p:sldId id="271" r:id="rId14"/>
    <p:sldId id="273" r:id="rId15"/>
    <p:sldId id="272"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8888C8-9115-4BC5-A63C-CB1850347658}" v="1" dt="2025-10-17T03:49:18.2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3" d="100"/>
          <a:sy n="73" d="100"/>
        </p:scale>
        <p:origin x="380"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73762C-D8AB-4174-BE2B-F735C354F657}" type="datetimeFigureOut">
              <a:rPr kumimoji="1" lang="ja-JP" altLang="en-US" smtClean="0"/>
              <a:t>2025/10/17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276D59-707A-4F57-8A29-00B08EB11C70}" type="slidenum">
              <a:rPr kumimoji="1" lang="ja-JP" altLang="en-US" smtClean="0"/>
              <a:t>‹#›</a:t>
            </a:fld>
            <a:endParaRPr kumimoji="1" lang="ja-JP" altLang="en-US"/>
          </a:p>
        </p:txBody>
      </p:sp>
    </p:spTree>
    <p:extLst>
      <p:ext uri="{BB962C8B-B14F-4D97-AF65-F5344CB8AC3E}">
        <p14:creationId xmlns:p14="http://schemas.microsoft.com/office/powerpoint/2010/main" val="7446307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3" name="字幕 2">
            <a:extLst>
              <a:ext uri="{FF2B5EF4-FFF2-40B4-BE49-F238E27FC236}">
                <a16:creationId xmlns:a16="http://schemas.microsoft.com/office/drawing/2014/main" id="{071765E4-F3CC-2660-EF1E-2A9BCA6577FE}"/>
              </a:ext>
            </a:extLst>
          </p:cNvPr>
          <p:cNvSpPr>
            <a:spLocks noGrp="1"/>
          </p:cNvSpPr>
          <p:nvPr>
            <p:ph type="subTitle" idx="1"/>
          </p:nvPr>
        </p:nvSpPr>
        <p:spPr>
          <a:xfrm>
            <a:off x="651105" y="5055691"/>
            <a:ext cx="8108764" cy="670812"/>
          </a:xfrm>
        </p:spPr>
        <p:txBody>
          <a:bodyPr>
            <a:norm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2" name="タイトル 1">
            <a:extLst>
              <a:ext uri="{FF2B5EF4-FFF2-40B4-BE49-F238E27FC236}">
                <a16:creationId xmlns:a16="http://schemas.microsoft.com/office/drawing/2014/main" id="{2EFE56DA-A430-230D-197E-C4283B5D551A}"/>
              </a:ext>
            </a:extLst>
          </p:cNvPr>
          <p:cNvSpPr>
            <a:spLocks noGrp="1"/>
          </p:cNvSpPr>
          <p:nvPr>
            <p:ph type="ctrTitle"/>
          </p:nvPr>
        </p:nvSpPr>
        <p:spPr>
          <a:xfrm>
            <a:off x="651106" y="1122363"/>
            <a:ext cx="9839442" cy="2387600"/>
          </a:xfrm>
          <a:prstGeom prst="rect">
            <a:avLst/>
          </a:prstGeom>
        </p:spPr>
        <p:txBody>
          <a:bodyPr anchor="b"/>
          <a:lstStyle>
            <a:lvl1pPr algn="l">
              <a:defRPr sz="6000"/>
            </a:lvl1pPr>
          </a:lstStyle>
          <a:p>
            <a:r>
              <a:rPr kumimoji="1" lang="ja-JP" altLang="en-US"/>
              <a:t>マスター タイトルの書式設定</a:t>
            </a:r>
          </a:p>
        </p:txBody>
      </p:sp>
      <p:sp>
        <p:nvSpPr>
          <p:cNvPr id="4" name="日付プレースホルダー 3">
            <a:extLst>
              <a:ext uri="{FF2B5EF4-FFF2-40B4-BE49-F238E27FC236}">
                <a16:creationId xmlns:a16="http://schemas.microsoft.com/office/drawing/2014/main" id="{3D8ADC58-A37C-30DF-7A70-687FA41C343F}"/>
              </a:ext>
            </a:extLst>
          </p:cNvPr>
          <p:cNvSpPr>
            <a:spLocks noGrp="1"/>
          </p:cNvSpPr>
          <p:nvPr>
            <p:ph type="dt" sz="half" idx="10"/>
          </p:nvPr>
        </p:nvSpPr>
        <p:spPr>
          <a:xfrm>
            <a:off x="838200" y="5887516"/>
            <a:ext cx="1122123" cy="212659"/>
          </a:xfrm>
          <a:prstGeom prst="rect">
            <a:avLst/>
          </a:prstGeom>
        </p:spPr>
        <p:txBody>
          <a:bodyPr/>
          <a:lstStyle>
            <a:lvl1pPr>
              <a:defRPr sz="900">
                <a:latin typeface="+mn-ea"/>
                <a:ea typeface="+mn-ea"/>
              </a:defRPr>
            </a:lvl1pPr>
          </a:lstStyle>
          <a:p>
            <a:r>
              <a:rPr lang="en-US" altLang="ja-JP"/>
              <a:t>2023</a:t>
            </a:r>
            <a:r>
              <a:rPr lang="ja-JP" altLang="en-US"/>
              <a:t>年</a:t>
            </a:r>
            <a:r>
              <a:rPr lang="en-US" altLang="ja-JP"/>
              <a:t>2</a:t>
            </a:r>
            <a:r>
              <a:rPr lang="ja-JP" altLang="en-US"/>
              <a:t>月</a:t>
            </a:r>
            <a:r>
              <a:rPr lang="en-US" altLang="ja-JP"/>
              <a:t>28</a:t>
            </a:r>
            <a:r>
              <a:rPr lang="ja-JP" altLang="en-US"/>
              <a:t>日</a:t>
            </a:r>
          </a:p>
        </p:txBody>
      </p:sp>
      <p:sp>
        <p:nvSpPr>
          <p:cNvPr id="5" name="フッター プレースホルダー 4">
            <a:extLst>
              <a:ext uri="{FF2B5EF4-FFF2-40B4-BE49-F238E27FC236}">
                <a16:creationId xmlns:a16="http://schemas.microsoft.com/office/drawing/2014/main" id="{E79955FB-76CF-735A-182F-0DA781B3F9A7}"/>
              </a:ext>
            </a:extLst>
          </p:cNvPr>
          <p:cNvSpPr>
            <a:spLocks noGrp="1"/>
          </p:cNvSpPr>
          <p:nvPr>
            <p:ph type="ftr" sz="quarter" idx="11"/>
          </p:nvPr>
        </p:nvSpPr>
        <p:spPr/>
        <p:txBody>
          <a:bodyPr/>
          <a:lstStyle/>
          <a:p>
            <a:endParaRPr kumimoji="1" lang="ja-JP" altLang="en-US"/>
          </a:p>
        </p:txBody>
      </p:sp>
      <p:pic>
        <p:nvPicPr>
          <p:cNvPr id="7" name="図 6">
            <a:extLst>
              <a:ext uri="{FF2B5EF4-FFF2-40B4-BE49-F238E27FC236}">
                <a16:creationId xmlns:a16="http://schemas.microsoft.com/office/drawing/2014/main" id="{343255D8-23B9-9BD4-8719-F7FAAB43CCEE}"/>
              </a:ext>
            </a:extLst>
          </p:cNvPr>
          <p:cNvPicPr>
            <a:picLocks noChangeAspect="1"/>
          </p:cNvPicPr>
          <p:nvPr userDrawn="1"/>
        </p:nvPicPr>
        <p:blipFill>
          <a:blip r:embed="rId2"/>
          <a:stretch>
            <a:fillRect/>
          </a:stretch>
        </p:blipFill>
        <p:spPr>
          <a:xfrm>
            <a:off x="7796072" y="1935010"/>
            <a:ext cx="4114800" cy="4635500"/>
          </a:xfrm>
          <a:prstGeom prst="rect">
            <a:avLst/>
          </a:prstGeom>
        </p:spPr>
      </p:pic>
      <p:pic>
        <p:nvPicPr>
          <p:cNvPr id="8" name="図 7">
            <a:extLst>
              <a:ext uri="{FF2B5EF4-FFF2-40B4-BE49-F238E27FC236}">
                <a16:creationId xmlns:a16="http://schemas.microsoft.com/office/drawing/2014/main" id="{3FC30191-9F18-DE9D-A4F1-14637FDB8668}"/>
              </a:ext>
            </a:extLst>
          </p:cNvPr>
          <p:cNvPicPr>
            <a:picLocks noChangeAspect="1"/>
          </p:cNvPicPr>
          <p:nvPr userDrawn="1"/>
        </p:nvPicPr>
        <p:blipFill>
          <a:blip r:embed="rId3"/>
          <a:stretch>
            <a:fillRect/>
          </a:stretch>
        </p:blipFill>
        <p:spPr>
          <a:xfrm>
            <a:off x="10241975" y="324565"/>
            <a:ext cx="1619250" cy="555625"/>
          </a:xfrm>
          <a:prstGeom prst="rect">
            <a:avLst/>
          </a:prstGeom>
        </p:spPr>
      </p:pic>
      <p:sp>
        <p:nvSpPr>
          <p:cNvPr id="10" name="フッター プレースホルダー 4">
            <a:extLst>
              <a:ext uri="{FF2B5EF4-FFF2-40B4-BE49-F238E27FC236}">
                <a16:creationId xmlns:a16="http://schemas.microsoft.com/office/drawing/2014/main" id="{110E3969-7FA7-7FD8-0FAE-F84ADE22ECE5}"/>
              </a:ext>
            </a:extLst>
          </p:cNvPr>
          <p:cNvSpPr txBox="1">
            <a:spLocks/>
          </p:cNvSpPr>
          <p:nvPr userDrawn="1"/>
        </p:nvSpPr>
        <p:spPr>
          <a:xfrm>
            <a:off x="367850" y="6608017"/>
            <a:ext cx="3600000" cy="92333"/>
          </a:xfrm>
          <a:prstGeom prst="rect">
            <a:avLst/>
          </a:prstGeom>
        </p:spPr>
        <p:txBody>
          <a:bodyPr vert="horz" lIns="0" tIns="0" rIns="0" bIns="0" rtlCol="0" anchor="t" anchorCtr="0">
            <a:spAutoFit/>
          </a:bodyPr>
          <a:lstStyle>
            <a:defPPr>
              <a:defRPr lang="ja-JP"/>
            </a:defPPr>
            <a:lvl1pPr marL="0" algn="l" defTabSz="914400" rtl="0" eaLnBrk="1" latinLnBrk="0" hangingPunct="1">
              <a:defRPr kumimoji="1" sz="6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a:r>
              <a:rPr lang="en" altLang="ja-JP"/>
              <a:t>© </a:t>
            </a:r>
            <a:r>
              <a:rPr lang="en" altLang="ja-JP" err="1"/>
              <a:t>Ritsumeikan</a:t>
            </a:r>
            <a:r>
              <a:rPr lang="en" altLang="ja-JP"/>
              <a:t> Trust All Rights Reserved</a:t>
            </a:r>
            <a:endParaRPr lang="ja-JP" altLang="en-US"/>
          </a:p>
        </p:txBody>
      </p:sp>
    </p:spTree>
    <p:extLst>
      <p:ext uri="{BB962C8B-B14F-4D97-AF65-F5344CB8AC3E}">
        <p14:creationId xmlns:p14="http://schemas.microsoft.com/office/powerpoint/2010/main" val="16794503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1BD7A15-8708-1B2E-BF5A-9C9C43977E42}"/>
              </a:ext>
            </a:extLst>
          </p:cNvPr>
          <p:cNvSpPr>
            <a:spLocks noGrp="1"/>
          </p:cNvSpPr>
          <p:nvPr>
            <p:ph type="title"/>
          </p:nvPr>
        </p:nvSpPr>
        <p:spPr>
          <a:xfrm>
            <a:off x="838200" y="699427"/>
            <a:ext cx="10515600" cy="687061"/>
          </a:xfrm>
          <a:prstGeom prst="rect">
            <a:avLst/>
          </a:prstGeo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757BA2E-6B07-1EB7-F440-0581AEF7EA77}"/>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フッター プレースホルダー 4">
            <a:extLst>
              <a:ext uri="{FF2B5EF4-FFF2-40B4-BE49-F238E27FC236}">
                <a16:creationId xmlns:a16="http://schemas.microsoft.com/office/drawing/2014/main" id="{650D7E50-92B9-255D-D681-EE3FCD371C80}"/>
              </a:ext>
            </a:extLst>
          </p:cNvPr>
          <p:cNvSpPr>
            <a:spLocks noGrp="1"/>
          </p:cNvSpPr>
          <p:nvPr>
            <p:ph type="ftr" sz="quarter" idx="11"/>
          </p:nvPr>
        </p:nvSpPr>
        <p:spPr/>
        <p:txBody>
          <a:bodyPr/>
          <a:lstStyle/>
          <a:p>
            <a:endParaRPr kumimoji="1" lang="ja-JP" altLang="en-US"/>
          </a:p>
        </p:txBody>
      </p:sp>
    </p:spTree>
    <p:extLst>
      <p:ext uri="{BB962C8B-B14F-4D97-AF65-F5344CB8AC3E}">
        <p14:creationId xmlns:p14="http://schemas.microsoft.com/office/powerpoint/2010/main" val="141280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E4ADB6-A3D7-EB5E-EEF6-8933A3E7606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FA25AA1-C8C4-D13C-B270-7F640216D7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5" name="フッター プレースホルダー 4">
            <a:extLst>
              <a:ext uri="{FF2B5EF4-FFF2-40B4-BE49-F238E27FC236}">
                <a16:creationId xmlns:a16="http://schemas.microsoft.com/office/drawing/2014/main" id="{5278875B-E2D3-435B-D968-E8B71ADA6D9D}"/>
              </a:ext>
            </a:extLst>
          </p:cNvPr>
          <p:cNvSpPr>
            <a:spLocks noGrp="1"/>
          </p:cNvSpPr>
          <p:nvPr>
            <p:ph type="ftr" sz="quarter" idx="11"/>
          </p:nvPr>
        </p:nvSpPr>
        <p:spPr/>
        <p:txBody>
          <a:bodyPr/>
          <a:lstStyle/>
          <a:p>
            <a:endParaRPr kumimoji="1" lang="ja-JP" altLang="en-US"/>
          </a:p>
        </p:txBody>
      </p:sp>
    </p:spTree>
    <p:extLst>
      <p:ext uri="{BB962C8B-B14F-4D97-AF65-F5344CB8AC3E}">
        <p14:creationId xmlns:p14="http://schemas.microsoft.com/office/powerpoint/2010/main" val="30561959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CEFDE9-B59E-F9B4-91B2-04C71CE02E83}"/>
              </a:ext>
            </a:extLst>
          </p:cNvPr>
          <p:cNvSpPr>
            <a:spLocks noGrp="1"/>
          </p:cNvSpPr>
          <p:nvPr>
            <p:ph type="title"/>
          </p:nvPr>
        </p:nvSpPr>
        <p:spPr>
          <a:xfrm>
            <a:off x="838200" y="699427"/>
            <a:ext cx="10515600" cy="687061"/>
          </a:xfrm>
          <a:prstGeom prst="rect">
            <a:avLst/>
          </a:prstGeo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28D8D09-4ECB-53B0-DFAA-B0545E4092C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437FD869-2928-0F5B-F493-10D280B9F399}"/>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a:extLst>
              <a:ext uri="{FF2B5EF4-FFF2-40B4-BE49-F238E27FC236}">
                <a16:creationId xmlns:a16="http://schemas.microsoft.com/office/drawing/2014/main" id="{4DCDE5BE-E453-DAE8-F134-DFB744285D53}"/>
              </a:ext>
            </a:extLst>
          </p:cNvPr>
          <p:cNvSpPr>
            <a:spLocks noGrp="1"/>
          </p:cNvSpPr>
          <p:nvPr>
            <p:ph type="ftr" sz="quarter" idx="11"/>
          </p:nvPr>
        </p:nvSpPr>
        <p:spPr/>
        <p:txBody>
          <a:bodyPr/>
          <a:lstStyle/>
          <a:p>
            <a:endParaRPr kumimoji="1" lang="ja-JP" altLang="en-US"/>
          </a:p>
        </p:txBody>
      </p:sp>
    </p:spTree>
    <p:extLst>
      <p:ext uri="{BB962C8B-B14F-4D97-AF65-F5344CB8AC3E}">
        <p14:creationId xmlns:p14="http://schemas.microsoft.com/office/powerpoint/2010/main" val="26932662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9FAFCD-BD25-8118-4C78-8A317DAEE315}"/>
              </a:ext>
            </a:extLst>
          </p:cNvPr>
          <p:cNvSpPr>
            <a:spLocks noGrp="1"/>
          </p:cNvSpPr>
          <p:nvPr>
            <p:ph type="title"/>
          </p:nvPr>
        </p:nvSpPr>
        <p:spPr>
          <a:xfrm>
            <a:off x="839788" y="365125"/>
            <a:ext cx="10515600" cy="1325563"/>
          </a:xfrm>
          <a:prstGeom prst="rect">
            <a:avLst/>
          </a:prstGeo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E4F53F-8E9A-46DD-3BED-3BD15A4577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39FA72B5-B8FE-ACEA-49D3-5F7E42695E3D}"/>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1CE4F295-8653-3860-12A0-3479F4B31B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490F9508-BF78-9F6E-F3A2-B9C49A1AD7B2}"/>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8" name="フッター プレースホルダー 7">
            <a:extLst>
              <a:ext uri="{FF2B5EF4-FFF2-40B4-BE49-F238E27FC236}">
                <a16:creationId xmlns:a16="http://schemas.microsoft.com/office/drawing/2014/main" id="{A72B600D-6F9A-C324-7558-0F0D530C36C8}"/>
              </a:ext>
            </a:extLst>
          </p:cNvPr>
          <p:cNvSpPr>
            <a:spLocks noGrp="1"/>
          </p:cNvSpPr>
          <p:nvPr>
            <p:ph type="ftr" sz="quarter" idx="11"/>
          </p:nvPr>
        </p:nvSpPr>
        <p:spPr/>
        <p:txBody>
          <a:bodyPr/>
          <a:lstStyle/>
          <a:p>
            <a:endParaRPr kumimoji="1" lang="ja-JP" altLang="en-US"/>
          </a:p>
        </p:txBody>
      </p:sp>
    </p:spTree>
    <p:extLst>
      <p:ext uri="{BB962C8B-B14F-4D97-AF65-F5344CB8AC3E}">
        <p14:creationId xmlns:p14="http://schemas.microsoft.com/office/powerpoint/2010/main" val="1036989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FDE963-99C8-7726-A32E-FF592394CB64}"/>
              </a:ext>
            </a:extLst>
          </p:cNvPr>
          <p:cNvSpPr>
            <a:spLocks noGrp="1"/>
          </p:cNvSpPr>
          <p:nvPr>
            <p:ph type="title"/>
          </p:nvPr>
        </p:nvSpPr>
        <p:spPr>
          <a:xfrm>
            <a:off x="838200" y="699427"/>
            <a:ext cx="10515600" cy="687061"/>
          </a:xfrm>
          <a:prstGeom prst="rect">
            <a:avLst/>
          </a:prstGeom>
        </p:spPr>
        <p:txBody>
          <a:bodyPr/>
          <a:lstStyle/>
          <a:p>
            <a:r>
              <a:rPr kumimoji="1" lang="ja-JP" altLang="en-US"/>
              <a:t>マスター タイトルの書式設定</a:t>
            </a:r>
          </a:p>
        </p:txBody>
      </p:sp>
      <p:sp>
        <p:nvSpPr>
          <p:cNvPr id="4" name="フッター プレースホルダー 3">
            <a:extLst>
              <a:ext uri="{FF2B5EF4-FFF2-40B4-BE49-F238E27FC236}">
                <a16:creationId xmlns:a16="http://schemas.microsoft.com/office/drawing/2014/main" id="{4AC002CE-8727-B50B-E620-3F23F9D8AD2E}"/>
              </a:ext>
            </a:extLst>
          </p:cNvPr>
          <p:cNvSpPr>
            <a:spLocks noGrp="1"/>
          </p:cNvSpPr>
          <p:nvPr>
            <p:ph type="ftr" sz="quarter" idx="11"/>
          </p:nvPr>
        </p:nvSpPr>
        <p:spPr/>
        <p:txBody>
          <a:bodyPr/>
          <a:lstStyle/>
          <a:p>
            <a:endParaRPr kumimoji="1" lang="ja-JP" altLang="en-US"/>
          </a:p>
        </p:txBody>
      </p:sp>
    </p:spTree>
    <p:extLst>
      <p:ext uri="{BB962C8B-B14F-4D97-AF65-F5344CB8AC3E}">
        <p14:creationId xmlns:p14="http://schemas.microsoft.com/office/powerpoint/2010/main" val="1719573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9E23B22E-25ED-55A6-E8C3-C6102BF7AF7D}"/>
              </a:ext>
            </a:extLst>
          </p:cNvPr>
          <p:cNvSpPr>
            <a:spLocks noGrp="1"/>
          </p:cNvSpPr>
          <p:nvPr>
            <p:ph type="ftr" sz="quarter" idx="11"/>
          </p:nvPr>
        </p:nvSpPr>
        <p:spPr/>
        <p:txBody>
          <a:bodyPr/>
          <a:lstStyle/>
          <a:p>
            <a:endParaRPr kumimoji="1" lang="ja-JP" altLang="en-US"/>
          </a:p>
        </p:txBody>
      </p:sp>
    </p:spTree>
    <p:extLst>
      <p:ext uri="{BB962C8B-B14F-4D97-AF65-F5344CB8AC3E}">
        <p14:creationId xmlns:p14="http://schemas.microsoft.com/office/powerpoint/2010/main" val="3031180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C7858A-2C97-931F-89E8-DA8332C2BBCB}"/>
              </a:ext>
            </a:extLst>
          </p:cNvPr>
          <p:cNvSpPr>
            <a:spLocks noGrp="1"/>
          </p:cNvSpPr>
          <p:nvPr>
            <p:ph type="title"/>
          </p:nvPr>
        </p:nvSpPr>
        <p:spPr>
          <a:xfrm>
            <a:off x="838200" y="627380"/>
            <a:ext cx="10512424" cy="739140"/>
          </a:xfrm>
          <a:prstGeom prst="rect">
            <a:avLst/>
          </a:prstGeom>
        </p:spPr>
        <p:txBody>
          <a:bodyPr anchor="b">
            <a:normAutofit/>
          </a:bodyPr>
          <a:lstStyle>
            <a:lvl1pPr>
              <a:defRPr sz="36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0C33624-FE7E-8080-F51D-27058E520C86}"/>
              </a:ext>
            </a:extLst>
          </p:cNvPr>
          <p:cNvSpPr>
            <a:spLocks noGrp="1"/>
          </p:cNvSpPr>
          <p:nvPr>
            <p:ph idx="1"/>
          </p:nvPr>
        </p:nvSpPr>
        <p:spPr>
          <a:xfrm>
            <a:off x="4772025" y="1554480"/>
            <a:ext cx="6583363" cy="430657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996AE159-1A70-CE0E-7D12-710E876833CE}"/>
              </a:ext>
            </a:extLst>
          </p:cNvPr>
          <p:cNvSpPr>
            <a:spLocks noGrp="1"/>
          </p:cNvSpPr>
          <p:nvPr>
            <p:ph type="body" sz="half" idx="2"/>
          </p:nvPr>
        </p:nvSpPr>
        <p:spPr>
          <a:xfrm>
            <a:off x="839788" y="1562418"/>
            <a:ext cx="3932237" cy="430657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6" name="フッター プレースホルダー 5">
            <a:extLst>
              <a:ext uri="{FF2B5EF4-FFF2-40B4-BE49-F238E27FC236}">
                <a16:creationId xmlns:a16="http://schemas.microsoft.com/office/drawing/2014/main" id="{842BD640-276B-5FBA-DD2B-3B0A44659FEA}"/>
              </a:ext>
            </a:extLst>
          </p:cNvPr>
          <p:cNvSpPr>
            <a:spLocks noGrp="1"/>
          </p:cNvSpPr>
          <p:nvPr>
            <p:ph type="ftr" sz="quarter" idx="11"/>
          </p:nvPr>
        </p:nvSpPr>
        <p:spPr/>
        <p:txBody>
          <a:bodyPr/>
          <a:lstStyle/>
          <a:p>
            <a:endParaRPr kumimoji="1" lang="ja-JP" altLang="en-US"/>
          </a:p>
        </p:txBody>
      </p:sp>
    </p:spTree>
    <p:extLst>
      <p:ext uri="{BB962C8B-B14F-4D97-AF65-F5344CB8AC3E}">
        <p14:creationId xmlns:p14="http://schemas.microsoft.com/office/powerpoint/2010/main" val="715142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タイトル付きの図">
    <p:spTree>
      <p:nvGrpSpPr>
        <p:cNvPr id="1" name=""/>
        <p:cNvGrpSpPr/>
        <p:nvPr/>
      </p:nvGrpSpPr>
      <p:grpSpPr>
        <a:xfrm>
          <a:off x="0" y="0"/>
          <a:ext cx="0" cy="0"/>
          <a:chOff x="0" y="0"/>
          <a:chExt cx="0" cy="0"/>
        </a:xfrm>
      </p:grpSpPr>
      <p:sp>
        <p:nvSpPr>
          <p:cNvPr id="3" name="図プレースホルダー 2">
            <a:extLst>
              <a:ext uri="{FF2B5EF4-FFF2-40B4-BE49-F238E27FC236}">
                <a16:creationId xmlns:a16="http://schemas.microsoft.com/office/drawing/2014/main" id="{E81A7492-C371-FB51-1410-7084AE99E214}"/>
              </a:ext>
            </a:extLst>
          </p:cNvPr>
          <p:cNvSpPr>
            <a:spLocks noGrp="1"/>
          </p:cNvSpPr>
          <p:nvPr>
            <p:ph type="pic" idx="1"/>
          </p:nvPr>
        </p:nvSpPr>
        <p:spPr>
          <a:xfrm>
            <a:off x="5183188" y="1630680"/>
            <a:ext cx="6172200" cy="423037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a:extLst>
              <a:ext uri="{FF2B5EF4-FFF2-40B4-BE49-F238E27FC236}">
                <a16:creationId xmlns:a16="http://schemas.microsoft.com/office/drawing/2014/main" id="{614035F8-0347-942F-8034-45A6E032F1BD}"/>
              </a:ext>
            </a:extLst>
          </p:cNvPr>
          <p:cNvSpPr>
            <a:spLocks noGrp="1"/>
          </p:cNvSpPr>
          <p:nvPr>
            <p:ph type="body" sz="half" idx="2"/>
          </p:nvPr>
        </p:nvSpPr>
        <p:spPr>
          <a:xfrm>
            <a:off x="839788" y="1638618"/>
            <a:ext cx="3932237" cy="423037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6" name="フッター プレースホルダー 5">
            <a:extLst>
              <a:ext uri="{FF2B5EF4-FFF2-40B4-BE49-F238E27FC236}">
                <a16:creationId xmlns:a16="http://schemas.microsoft.com/office/drawing/2014/main" id="{BB030AC9-50E0-9F2F-0934-1920DD39ED16}"/>
              </a:ext>
            </a:extLst>
          </p:cNvPr>
          <p:cNvSpPr>
            <a:spLocks noGrp="1"/>
          </p:cNvSpPr>
          <p:nvPr>
            <p:ph type="ftr" sz="quarter" idx="11"/>
          </p:nvPr>
        </p:nvSpPr>
        <p:spPr/>
        <p:txBody>
          <a:bodyPr/>
          <a:lstStyle/>
          <a:p>
            <a:endParaRPr kumimoji="1" lang="ja-JP" altLang="en-US"/>
          </a:p>
        </p:txBody>
      </p:sp>
      <p:sp>
        <p:nvSpPr>
          <p:cNvPr id="8" name="タイトル 1">
            <a:extLst>
              <a:ext uri="{FF2B5EF4-FFF2-40B4-BE49-F238E27FC236}">
                <a16:creationId xmlns:a16="http://schemas.microsoft.com/office/drawing/2014/main" id="{514674DA-9FD1-4172-BD69-576184FFE93B}"/>
              </a:ext>
            </a:extLst>
          </p:cNvPr>
          <p:cNvSpPr>
            <a:spLocks noGrp="1"/>
          </p:cNvSpPr>
          <p:nvPr>
            <p:ph type="title"/>
          </p:nvPr>
        </p:nvSpPr>
        <p:spPr>
          <a:xfrm>
            <a:off x="838200" y="627380"/>
            <a:ext cx="10512424" cy="739140"/>
          </a:xfrm>
          <a:prstGeom prst="rect">
            <a:avLst/>
          </a:prstGeom>
        </p:spPr>
        <p:txBody>
          <a:bodyPr anchor="b">
            <a:normAutofit/>
          </a:bodyPr>
          <a:lstStyle>
            <a:lvl1pPr>
              <a:defRPr sz="3600"/>
            </a:lvl1pPr>
          </a:lstStyle>
          <a:p>
            <a:r>
              <a:rPr kumimoji="1" lang="ja-JP" altLang="en-US"/>
              <a:t>マスター タイトルの書式設定</a:t>
            </a:r>
          </a:p>
        </p:txBody>
      </p:sp>
    </p:spTree>
    <p:extLst>
      <p:ext uri="{BB962C8B-B14F-4D97-AF65-F5344CB8AC3E}">
        <p14:creationId xmlns:p14="http://schemas.microsoft.com/office/powerpoint/2010/main" val="13256779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2E3E4A-1132-2460-36CD-C029F2E00EEB}"/>
              </a:ext>
            </a:extLst>
          </p:cNvPr>
          <p:cNvSpPr>
            <a:spLocks noGrp="1"/>
          </p:cNvSpPr>
          <p:nvPr>
            <p:ph type="title"/>
          </p:nvPr>
        </p:nvSpPr>
        <p:spPr>
          <a:xfrm>
            <a:off x="838200" y="699427"/>
            <a:ext cx="10515600" cy="687061"/>
          </a:xfrm>
          <a:prstGeom prst="rect">
            <a:avLst/>
          </a:prstGeom>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73A03F2-10B9-7066-94D9-58AB836EDB5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フッター プレースホルダー 4">
            <a:extLst>
              <a:ext uri="{FF2B5EF4-FFF2-40B4-BE49-F238E27FC236}">
                <a16:creationId xmlns:a16="http://schemas.microsoft.com/office/drawing/2014/main" id="{CAB6D438-7027-BD0B-D88D-D7AB0896AD65}"/>
              </a:ext>
            </a:extLst>
          </p:cNvPr>
          <p:cNvSpPr>
            <a:spLocks noGrp="1"/>
          </p:cNvSpPr>
          <p:nvPr>
            <p:ph type="ftr" sz="quarter" idx="11"/>
          </p:nvPr>
        </p:nvSpPr>
        <p:spPr/>
        <p:txBody>
          <a:bodyPr/>
          <a:lstStyle/>
          <a:p>
            <a:endParaRPr kumimoji="1" lang="ja-JP" altLang="en-US"/>
          </a:p>
        </p:txBody>
      </p:sp>
    </p:spTree>
    <p:extLst>
      <p:ext uri="{BB962C8B-B14F-4D97-AF65-F5344CB8AC3E}">
        <p14:creationId xmlns:p14="http://schemas.microsoft.com/office/powerpoint/2010/main" val="930831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image" Target="../media/image4.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正方形/長方形 24">
            <a:extLst>
              <a:ext uri="{FF2B5EF4-FFF2-40B4-BE49-F238E27FC236}">
                <a16:creationId xmlns:a16="http://schemas.microsoft.com/office/drawing/2014/main" id="{07A5805C-46BB-54E8-8163-CDDC347D4378}"/>
              </a:ext>
            </a:extLst>
          </p:cNvPr>
          <p:cNvSpPr/>
          <p:nvPr userDrawn="1"/>
        </p:nvSpPr>
        <p:spPr>
          <a:xfrm>
            <a:off x="-600" y="6390000"/>
            <a:ext cx="12193200" cy="468000"/>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プレースホルダー 1">
            <a:extLst>
              <a:ext uri="{FF2B5EF4-FFF2-40B4-BE49-F238E27FC236}">
                <a16:creationId xmlns:a16="http://schemas.microsoft.com/office/drawing/2014/main" id="{EE9202B2-A960-26AE-2172-51B916899CB6}"/>
              </a:ext>
            </a:extLst>
          </p:cNvPr>
          <p:cNvSpPr>
            <a:spLocks noGrp="1"/>
          </p:cNvSpPr>
          <p:nvPr>
            <p:ph type="title"/>
          </p:nvPr>
        </p:nvSpPr>
        <p:spPr>
          <a:xfrm>
            <a:off x="838200" y="699427"/>
            <a:ext cx="10515600" cy="687061"/>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B550EBF-8B8A-62F9-9208-6C4FC21F9B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フッター プレースホルダー 4">
            <a:extLst>
              <a:ext uri="{FF2B5EF4-FFF2-40B4-BE49-F238E27FC236}">
                <a16:creationId xmlns:a16="http://schemas.microsoft.com/office/drawing/2014/main" id="{0B55B4BA-8988-F022-F731-A070E604B753}"/>
              </a:ext>
            </a:extLst>
          </p:cNvPr>
          <p:cNvSpPr>
            <a:spLocks noGrp="1"/>
          </p:cNvSpPr>
          <p:nvPr>
            <p:ph type="ftr" sz="quarter" idx="3"/>
          </p:nvPr>
        </p:nvSpPr>
        <p:spPr>
          <a:xfrm>
            <a:off x="4094967" y="6458097"/>
            <a:ext cx="4114800" cy="365125"/>
          </a:xfrm>
          <a:prstGeom prst="rect">
            <a:avLst/>
          </a:prstGeom>
        </p:spPr>
        <p:txBody>
          <a:bodyPr vert="horz" lIns="91440" tIns="45720" rIns="91440" bIns="45720" rtlCol="0" anchor="ctr"/>
          <a:lstStyle>
            <a:lvl1pPr algn="ctr">
              <a:defRPr sz="1200">
                <a:solidFill>
                  <a:schemeClr val="bg1"/>
                </a:solidFill>
              </a:defRPr>
            </a:lvl1pPr>
          </a:lstStyle>
          <a:p>
            <a:endParaRPr lang="ja-JP" altLang="en-US"/>
          </a:p>
        </p:txBody>
      </p:sp>
      <p:pic>
        <p:nvPicPr>
          <p:cNvPr id="26" name="図 25">
            <a:extLst>
              <a:ext uri="{FF2B5EF4-FFF2-40B4-BE49-F238E27FC236}">
                <a16:creationId xmlns:a16="http://schemas.microsoft.com/office/drawing/2014/main" id="{01311B64-520A-0AAC-F4FC-79C4FFE77664}"/>
              </a:ext>
            </a:extLst>
          </p:cNvPr>
          <p:cNvPicPr>
            <a:picLocks noChangeAspect="1"/>
          </p:cNvPicPr>
          <p:nvPr userDrawn="1"/>
        </p:nvPicPr>
        <p:blipFill>
          <a:blip r:embed="rId12"/>
          <a:stretch>
            <a:fillRect/>
          </a:stretch>
        </p:blipFill>
        <p:spPr>
          <a:xfrm>
            <a:off x="291650" y="6475799"/>
            <a:ext cx="2362200" cy="292100"/>
          </a:xfrm>
          <a:prstGeom prst="rect">
            <a:avLst/>
          </a:prstGeom>
        </p:spPr>
      </p:pic>
      <p:pic>
        <p:nvPicPr>
          <p:cNvPr id="27" name="図 26">
            <a:extLst>
              <a:ext uri="{FF2B5EF4-FFF2-40B4-BE49-F238E27FC236}">
                <a16:creationId xmlns:a16="http://schemas.microsoft.com/office/drawing/2014/main" id="{235FDDFB-3CA7-C452-79B4-82AB4F480CD6}"/>
              </a:ext>
            </a:extLst>
          </p:cNvPr>
          <p:cNvPicPr>
            <a:picLocks noChangeAspect="1"/>
          </p:cNvPicPr>
          <p:nvPr userDrawn="1"/>
        </p:nvPicPr>
        <p:blipFill>
          <a:blip r:embed="rId13"/>
          <a:stretch>
            <a:fillRect/>
          </a:stretch>
        </p:blipFill>
        <p:spPr>
          <a:xfrm>
            <a:off x="8745616" y="6463099"/>
            <a:ext cx="2260600" cy="317500"/>
          </a:xfrm>
          <a:prstGeom prst="rect">
            <a:avLst/>
          </a:prstGeom>
        </p:spPr>
      </p:pic>
      <p:sp>
        <p:nvSpPr>
          <p:cNvPr id="30" name="フッター プレースホルダー 4">
            <a:extLst>
              <a:ext uri="{FF2B5EF4-FFF2-40B4-BE49-F238E27FC236}">
                <a16:creationId xmlns:a16="http://schemas.microsoft.com/office/drawing/2014/main" id="{A604570C-02D4-D843-7309-7BDC4669FD8C}"/>
              </a:ext>
            </a:extLst>
          </p:cNvPr>
          <p:cNvSpPr txBox="1">
            <a:spLocks/>
          </p:cNvSpPr>
          <p:nvPr userDrawn="1"/>
        </p:nvSpPr>
        <p:spPr>
          <a:xfrm>
            <a:off x="2735300" y="6577834"/>
            <a:ext cx="3600000" cy="92333"/>
          </a:xfrm>
          <a:prstGeom prst="rect">
            <a:avLst/>
          </a:prstGeom>
        </p:spPr>
        <p:txBody>
          <a:bodyPr vert="horz" lIns="0" tIns="0" rIns="0" bIns="0" rtlCol="0" anchor="b" anchorCtr="0">
            <a:spAutoFit/>
          </a:bodyPr>
          <a:lstStyle>
            <a:defPPr>
              <a:defRPr lang="ja-JP"/>
            </a:defPPr>
            <a:lvl1pPr marL="0" algn="l" defTabSz="914400" rtl="0" eaLnBrk="1" latinLnBrk="0" hangingPunct="1">
              <a:defRPr kumimoji="1" sz="6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 altLang="ja-JP">
                <a:solidFill>
                  <a:schemeClr val="bg1"/>
                </a:solidFill>
              </a:rPr>
              <a:t>© </a:t>
            </a:r>
            <a:r>
              <a:rPr lang="en" altLang="ja-JP" err="1">
                <a:solidFill>
                  <a:schemeClr val="bg1"/>
                </a:solidFill>
              </a:rPr>
              <a:t>Ritsumeikan</a:t>
            </a:r>
            <a:r>
              <a:rPr lang="en" altLang="ja-JP">
                <a:solidFill>
                  <a:schemeClr val="bg1"/>
                </a:solidFill>
              </a:rPr>
              <a:t> Trust All Rights Reserved</a:t>
            </a:r>
            <a:endParaRPr lang="ja-JP" altLang="en-US">
              <a:solidFill>
                <a:schemeClr val="bg1"/>
              </a:solidFill>
            </a:endParaRPr>
          </a:p>
        </p:txBody>
      </p:sp>
      <p:cxnSp>
        <p:nvCxnSpPr>
          <p:cNvPr id="33" name="直線コネクタ 32">
            <a:extLst>
              <a:ext uri="{FF2B5EF4-FFF2-40B4-BE49-F238E27FC236}">
                <a16:creationId xmlns:a16="http://schemas.microsoft.com/office/drawing/2014/main" id="{F42AFCD3-AC50-32F1-822A-2AEBB999021C}"/>
              </a:ext>
            </a:extLst>
          </p:cNvPr>
          <p:cNvCxnSpPr>
            <a:cxnSpLocks/>
          </p:cNvCxnSpPr>
          <p:nvPr userDrawn="1"/>
        </p:nvCxnSpPr>
        <p:spPr>
          <a:xfrm>
            <a:off x="11246070" y="6534000"/>
            <a:ext cx="0" cy="180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28" name="図 27">
            <a:extLst>
              <a:ext uri="{FF2B5EF4-FFF2-40B4-BE49-F238E27FC236}">
                <a16:creationId xmlns:a16="http://schemas.microsoft.com/office/drawing/2014/main" id="{D1F9A1B1-0D7C-A456-B0EC-AD0046A50774}"/>
              </a:ext>
            </a:extLst>
          </p:cNvPr>
          <p:cNvPicPr>
            <a:picLocks noChangeAspect="1"/>
          </p:cNvPicPr>
          <p:nvPr userDrawn="1"/>
        </p:nvPicPr>
        <p:blipFill>
          <a:blip r:embed="rId14"/>
          <a:stretch>
            <a:fillRect/>
          </a:stretch>
        </p:blipFill>
        <p:spPr>
          <a:xfrm>
            <a:off x="182390" y="176040"/>
            <a:ext cx="1790700" cy="1511300"/>
          </a:xfrm>
          <a:prstGeom prst="rect">
            <a:avLst/>
          </a:prstGeom>
        </p:spPr>
      </p:pic>
      <p:pic>
        <p:nvPicPr>
          <p:cNvPr id="29" name="図 28">
            <a:extLst>
              <a:ext uri="{FF2B5EF4-FFF2-40B4-BE49-F238E27FC236}">
                <a16:creationId xmlns:a16="http://schemas.microsoft.com/office/drawing/2014/main" id="{DA6A624E-1D18-0CF3-473A-1340FAAC16F8}"/>
              </a:ext>
            </a:extLst>
          </p:cNvPr>
          <p:cNvPicPr>
            <a:picLocks noChangeAspect="1"/>
          </p:cNvPicPr>
          <p:nvPr userDrawn="1"/>
        </p:nvPicPr>
        <p:blipFill>
          <a:blip r:embed="rId15"/>
          <a:stretch>
            <a:fillRect/>
          </a:stretch>
        </p:blipFill>
        <p:spPr>
          <a:xfrm>
            <a:off x="10790410" y="4892175"/>
            <a:ext cx="1219200" cy="1358900"/>
          </a:xfrm>
          <a:prstGeom prst="rect">
            <a:avLst/>
          </a:prstGeom>
        </p:spPr>
      </p:pic>
      <p:sp>
        <p:nvSpPr>
          <p:cNvPr id="31" name="スライド番号プレースホルダー 5">
            <a:extLst>
              <a:ext uri="{FF2B5EF4-FFF2-40B4-BE49-F238E27FC236}">
                <a16:creationId xmlns:a16="http://schemas.microsoft.com/office/drawing/2014/main" id="{33F3B559-9DBB-909F-9994-2FB6E81C09C9}"/>
              </a:ext>
            </a:extLst>
          </p:cNvPr>
          <p:cNvSpPr txBox="1">
            <a:spLocks/>
          </p:cNvSpPr>
          <p:nvPr userDrawn="1"/>
        </p:nvSpPr>
        <p:spPr>
          <a:xfrm>
            <a:off x="10076700" y="6516000"/>
            <a:ext cx="1800000" cy="216000"/>
          </a:xfrm>
          <a:prstGeom prst="rect">
            <a:avLst/>
          </a:prstGeom>
        </p:spPr>
        <p:txBody>
          <a:bodyPr vert="horz" lIns="0" tIns="0" rIns="0" bIns="0" rtlCol="0" anchor="ctr" anchorCtr="0"/>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7381B21D-C635-6F46-9D11-2A7199EC326E}" type="slidenum">
              <a:rPr lang="ja-JP" altLang="en-US" sz="1200" b="0" i="0" smtClean="0">
                <a:solidFill>
                  <a:schemeClr val="bg1"/>
                </a:solidFill>
                <a:latin typeface="Arial" panose="020B0604020202020204" pitchFamily="34" charset="0"/>
                <a:cs typeface="Arial" panose="020B0604020202020204" pitchFamily="34" charset="0"/>
              </a:rPr>
              <a:pPr/>
              <a:t>‹#›</a:t>
            </a:fld>
            <a:endParaRPr lang="ja-JP" altLang="en-US" sz="1200" b="0" i="0">
              <a:solidFill>
                <a:schemeClr val="bg1"/>
              </a:solidFill>
              <a:latin typeface="Arial" panose="020B0604020202020204" pitchFamily="34" charset="0"/>
              <a:cs typeface="Arial" panose="020B0604020202020204" pitchFamily="34" charset="0"/>
            </a:endParaRPr>
          </a:p>
        </p:txBody>
      </p:sp>
      <p:cxnSp>
        <p:nvCxnSpPr>
          <p:cNvPr id="32" name="直線コネクタ 31">
            <a:extLst>
              <a:ext uri="{FF2B5EF4-FFF2-40B4-BE49-F238E27FC236}">
                <a16:creationId xmlns:a16="http://schemas.microsoft.com/office/drawing/2014/main" id="{F40252DB-AFBC-A072-8F40-49A637C97D2A}"/>
              </a:ext>
            </a:extLst>
          </p:cNvPr>
          <p:cNvCxnSpPr>
            <a:cxnSpLocks/>
          </p:cNvCxnSpPr>
          <p:nvPr userDrawn="1"/>
        </p:nvCxnSpPr>
        <p:spPr>
          <a:xfrm>
            <a:off x="1056000" y="1452080"/>
            <a:ext cx="10035797" cy="0"/>
          </a:xfrm>
          <a:prstGeom prst="line">
            <a:avLst/>
          </a:prstGeom>
          <a:ln w="41275">
            <a:solidFill>
              <a:srgbClr val="9B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9451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ctr" defTabSz="914400" rtl="0" eaLnBrk="1" latinLnBrk="0" hangingPunct="1">
        <a:lnSpc>
          <a:spcPct val="90000"/>
        </a:lnSpc>
        <a:spcBef>
          <a:spcPct val="0"/>
        </a:spcBef>
        <a:buNone/>
        <a:defRPr kumimoji="1" sz="3600" kern="1200">
          <a:solidFill>
            <a:schemeClr val="tx1"/>
          </a:solidFill>
          <a:latin typeface="+mj-ea"/>
          <a:ea typeface="+mj-ea"/>
          <a:cs typeface="+mj-cs"/>
        </a:defRPr>
      </a:lvl1pPr>
    </p:titleStyle>
    <p:bodyStyle>
      <a:lvl1pPr marL="228600" indent="-228600" algn="l" defTabSz="914400" rtl="0" eaLnBrk="1" latinLnBrk="0" hangingPunct="1">
        <a:lnSpc>
          <a:spcPct val="90000"/>
        </a:lnSpc>
        <a:spcBef>
          <a:spcPts val="1000"/>
        </a:spcBef>
        <a:buClr>
          <a:srgbClr val="9B0000"/>
        </a:buClr>
        <a:buFont typeface="Arial" panose="020B0604020202020204" pitchFamily="34" charset="0"/>
        <a:buChar char="•"/>
        <a:defRPr kumimoji="1" sz="4400" kern="1200">
          <a:solidFill>
            <a:schemeClr val="tx1"/>
          </a:solidFill>
          <a:latin typeface="+mn-lt"/>
          <a:ea typeface="+mn-ea"/>
          <a:cs typeface="+mn-cs"/>
        </a:defRPr>
      </a:lvl1pPr>
      <a:lvl2pPr marL="324000" indent="-228600" algn="l" defTabSz="914400" rtl="0" eaLnBrk="1" latinLnBrk="0" hangingPunct="1">
        <a:lnSpc>
          <a:spcPct val="90000"/>
        </a:lnSpc>
        <a:spcBef>
          <a:spcPts val="500"/>
        </a:spcBef>
        <a:buClr>
          <a:srgbClr val="9B0000"/>
        </a:buClr>
        <a:buFont typeface="Arial" panose="020B0604020202020204" pitchFamily="34" charset="0"/>
        <a:buChar char="•"/>
        <a:defRPr kumimoji="1" sz="3600" kern="1200">
          <a:solidFill>
            <a:schemeClr val="tx1"/>
          </a:solidFill>
          <a:latin typeface="+mn-lt"/>
          <a:ea typeface="+mn-ea"/>
          <a:cs typeface="+mn-cs"/>
        </a:defRPr>
      </a:lvl2pPr>
      <a:lvl3pPr marL="432000" indent="-228600" algn="l" defTabSz="914400" rtl="0" eaLnBrk="1" latinLnBrk="0" hangingPunct="1">
        <a:lnSpc>
          <a:spcPct val="90000"/>
        </a:lnSpc>
        <a:spcBef>
          <a:spcPts val="500"/>
        </a:spcBef>
        <a:buClr>
          <a:srgbClr val="9B0000"/>
        </a:buClr>
        <a:buFont typeface="Arial" panose="020B0604020202020204" pitchFamily="34" charset="0"/>
        <a:buChar char="•"/>
        <a:defRPr kumimoji="1" sz="2800" kern="1200">
          <a:solidFill>
            <a:schemeClr val="tx1"/>
          </a:solidFill>
          <a:latin typeface="+mn-lt"/>
          <a:ea typeface="+mn-ea"/>
          <a:cs typeface="+mn-cs"/>
        </a:defRPr>
      </a:lvl3pPr>
      <a:lvl4pPr marL="504000" indent="-228600" algn="l" defTabSz="914400" rtl="0" eaLnBrk="1" latinLnBrk="0" hangingPunct="1">
        <a:lnSpc>
          <a:spcPct val="90000"/>
        </a:lnSpc>
        <a:spcBef>
          <a:spcPts val="500"/>
        </a:spcBef>
        <a:buClr>
          <a:srgbClr val="9B0000"/>
        </a:buClr>
        <a:buFont typeface="Arial" panose="020B0604020202020204" pitchFamily="34" charset="0"/>
        <a:buChar char="•"/>
        <a:defRPr kumimoji="1" sz="2400" kern="1200">
          <a:solidFill>
            <a:schemeClr val="tx1"/>
          </a:solidFill>
          <a:latin typeface="+mn-lt"/>
          <a:ea typeface="+mn-ea"/>
          <a:cs typeface="+mn-cs"/>
        </a:defRPr>
      </a:lvl4pPr>
      <a:lvl5pPr marL="576000" indent="-228600" algn="l" defTabSz="914400" rtl="0" eaLnBrk="1" latinLnBrk="0" hangingPunct="1">
        <a:lnSpc>
          <a:spcPct val="90000"/>
        </a:lnSpc>
        <a:spcBef>
          <a:spcPts val="500"/>
        </a:spcBef>
        <a:buClr>
          <a:srgbClr val="9B0000"/>
        </a:buClr>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20E1A0-9CB7-40CC-BD6D-0361F43045AA}"/>
              </a:ext>
            </a:extLst>
          </p:cNvPr>
          <p:cNvSpPr>
            <a:spLocks noGrp="1"/>
          </p:cNvSpPr>
          <p:nvPr>
            <p:ph type="ctrTitle"/>
          </p:nvPr>
        </p:nvSpPr>
        <p:spPr>
          <a:xfrm>
            <a:off x="651105" y="1671003"/>
            <a:ext cx="11375432" cy="2387600"/>
          </a:xfrm>
        </p:spPr>
        <p:txBody>
          <a:bodyPr>
            <a:normAutofit/>
          </a:bodyPr>
          <a:lstStyle/>
          <a:p>
            <a:pPr marL="0" marR="0" lvl="0" indent="0" defTabSz="914400" rtl="0" eaLnBrk="1" fontAlgn="auto" latinLnBrk="0" hangingPunct="1">
              <a:lnSpc>
                <a:spcPct val="100000"/>
              </a:lnSpc>
              <a:spcBef>
                <a:spcPts val="0"/>
              </a:spcBef>
              <a:spcAft>
                <a:spcPts val="0"/>
              </a:spcAft>
              <a:tabLst/>
              <a:defRPr/>
            </a:pPr>
            <a:r>
              <a:rPr kumimoji="1" lang="ja-JP" altLang="en-US" sz="4800" b="1"/>
              <a:t>電子メールタイポスクワッティング対策のための防御的ドメイン登録の提案 </a:t>
            </a:r>
            <a:r>
              <a:rPr kumimoji="1" lang="en-US" altLang="ja-JP" sz="4800" b="1"/>
              <a:t>(</a:t>
            </a:r>
            <a:r>
              <a:rPr kumimoji="1" lang="ja-JP" altLang="en-US" sz="4800" b="1"/>
              <a:t>仮</a:t>
            </a:r>
            <a:r>
              <a:rPr lang="en-US" altLang="ja-JP" sz="4800" b="1"/>
              <a:t>)</a:t>
            </a:r>
            <a:endParaRPr kumimoji="1" lang="ja-JP" altLang="en-US" sz="4800" b="1"/>
          </a:p>
        </p:txBody>
      </p:sp>
      <p:sp>
        <p:nvSpPr>
          <p:cNvPr id="3" name="字幕 2">
            <a:extLst>
              <a:ext uri="{FF2B5EF4-FFF2-40B4-BE49-F238E27FC236}">
                <a16:creationId xmlns:a16="http://schemas.microsoft.com/office/drawing/2014/main" id="{FB5DE7B4-1654-A3F8-8C7B-EA77A1591ECD}"/>
              </a:ext>
            </a:extLst>
          </p:cNvPr>
          <p:cNvSpPr>
            <a:spLocks noGrp="1"/>
          </p:cNvSpPr>
          <p:nvPr>
            <p:ph type="subTitle" idx="1"/>
          </p:nvPr>
        </p:nvSpPr>
        <p:spPr>
          <a:xfrm>
            <a:off x="651105" y="5088467"/>
            <a:ext cx="8108764" cy="638036"/>
          </a:xfrm>
        </p:spPr>
        <p:txBody>
          <a:bodyPr>
            <a:normAutofit/>
          </a:bodyPr>
          <a:lstStyle/>
          <a:p>
            <a:r>
              <a:rPr lang="en-US" altLang="ja-JP"/>
              <a:t>B4</a:t>
            </a:r>
            <a:r>
              <a:rPr lang="ja-JP" altLang="en-US"/>
              <a:t>　大西優希</a:t>
            </a:r>
            <a:endParaRPr kumimoji="1" lang="ja-JP" altLang="en-US"/>
          </a:p>
        </p:txBody>
      </p:sp>
    </p:spTree>
    <p:extLst>
      <p:ext uri="{BB962C8B-B14F-4D97-AF65-F5344CB8AC3E}">
        <p14:creationId xmlns:p14="http://schemas.microsoft.com/office/powerpoint/2010/main" val="21762139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39BBF-7D3A-F21A-0AB1-02A69CC360E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47DF9E6-94C2-1478-2694-D2872714B645}"/>
              </a:ext>
            </a:extLst>
          </p:cNvPr>
          <p:cNvSpPr>
            <a:spLocks noGrp="1"/>
          </p:cNvSpPr>
          <p:nvPr>
            <p:ph type="title"/>
          </p:nvPr>
        </p:nvSpPr>
        <p:spPr/>
        <p:txBody>
          <a:bodyPr/>
          <a:lstStyle/>
          <a:p>
            <a:r>
              <a:rPr kumimoji="1" lang="ja-JP" altLang="en-US"/>
              <a:t>研究背景</a:t>
            </a:r>
          </a:p>
        </p:txBody>
      </p:sp>
      <p:sp>
        <p:nvSpPr>
          <p:cNvPr id="3" name="コンテンツ プレースホルダー 2">
            <a:extLst>
              <a:ext uri="{FF2B5EF4-FFF2-40B4-BE49-F238E27FC236}">
                <a16:creationId xmlns:a16="http://schemas.microsoft.com/office/drawing/2014/main" id="{69C7353C-4425-DD62-92D2-2355BF3498DF}"/>
              </a:ext>
            </a:extLst>
          </p:cNvPr>
          <p:cNvSpPr>
            <a:spLocks noGrp="1"/>
          </p:cNvSpPr>
          <p:nvPr>
            <p:ph sz="half" idx="1"/>
          </p:nvPr>
        </p:nvSpPr>
        <p:spPr>
          <a:xfrm>
            <a:off x="838200" y="1825625"/>
            <a:ext cx="10515600" cy="4351338"/>
          </a:xfrm>
        </p:spPr>
        <p:txBody>
          <a:bodyPr>
            <a:normAutofit/>
          </a:bodyPr>
          <a:lstStyle/>
          <a:p>
            <a:r>
              <a:rPr lang="ja-JP" altLang="en-US" sz="2800" b="0" i="0">
                <a:solidFill>
                  <a:srgbClr val="111111"/>
                </a:solidFill>
                <a:effectLst/>
                <a:latin typeface="Roboto" panose="02000000000000000000" pitchFamily="2" charset="0"/>
              </a:rPr>
              <a:t>タイポスクワッティングは、</a:t>
            </a:r>
            <a:r>
              <a:rPr lang="ja-JP" altLang="en-US" sz="2800" b="1" i="0">
                <a:solidFill>
                  <a:srgbClr val="111111"/>
                </a:solidFill>
                <a:effectLst/>
                <a:latin typeface="Roboto" panose="02000000000000000000" pitchFamily="2" charset="0"/>
              </a:rPr>
              <a:t>サイバー攻撃の一種</a:t>
            </a:r>
            <a:r>
              <a:rPr lang="ja-JP" altLang="en-US" sz="2800" b="0" i="0">
                <a:solidFill>
                  <a:srgbClr val="111111"/>
                </a:solidFill>
                <a:effectLst/>
                <a:latin typeface="Roboto" panose="02000000000000000000" pitchFamily="2" charset="0"/>
              </a:rPr>
              <a:t>で、ユーザーのタイプミスを巧みに利用して不正なウェブサイトへ誘導する手法</a:t>
            </a:r>
            <a:endParaRPr kumimoji="1" lang="en-US" altLang="ja-JP" sz="2800"/>
          </a:p>
        </p:txBody>
      </p:sp>
      <p:pic>
        <p:nvPicPr>
          <p:cNvPr id="5" name="図 4" descr="アイコン&#10;&#10;AI によって生成されたコンテンツは間違っている可能性があります。">
            <a:extLst>
              <a:ext uri="{FF2B5EF4-FFF2-40B4-BE49-F238E27FC236}">
                <a16:creationId xmlns:a16="http://schemas.microsoft.com/office/drawing/2014/main" id="{A52FB1CE-E201-A5C7-27C9-7BD8D6C16E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731" y="3429000"/>
            <a:ext cx="1480714" cy="1394414"/>
          </a:xfrm>
          <a:prstGeom prst="rect">
            <a:avLst/>
          </a:prstGeom>
        </p:spPr>
      </p:pic>
      <p:pic>
        <p:nvPicPr>
          <p:cNvPr id="7" name="図 6" descr="アイコン&#10;&#10;AI によって生成されたコンテンツは間違っている可能性があります。">
            <a:extLst>
              <a:ext uri="{FF2B5EF4-FFF2-40B4-BE49-F238E27FC236}">
                <a16:creationId xmlns:a16="http://schemas.microsoft.com/office/drawing/2014/main" id="{E532AAC0-E105-6D18-2AA6-0A5B5092E6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6030" y="3069221"/>
            <a:ext cx="1399940" cy="1155859"/>
          </a:xfrm>
          <a:prstGeom prst="rect">
            <a:avLst/>
          </a:prstGeom>
        </p:spPr>
      </p:pic>
      <p:pic>
        <p:nvPicPr>
          <p:cNvPr id="6" name="図 5" descr="テキスト&#10;&#10;AI によって生成されたコンテンツは間違っている可能性があります。">
            <a:extLst>
              <a:ext uri="{FF2B5EF4-FFF2-40B4-BE49-F238E27FC236}">
                <a16:creationId xmlns:a16="http://schemas.microsoft.com/office/drawing/2014/main" id="{5B949514-E693-BF0F-EF52-DC44E9E96B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62966" y="3193937"/>
            <a:ext cx="911126" cy="906429"/>
          </a:xfrm>
          <a:prstGeom prst="rect">
            <a:avLst/>
          </a:prstGeom>
        </p:spPr>
      </p:pic>
      <p:pic>
        <p:nvPicPr>
          <p:cNvPr id="8" name="図 7" descr="アイコン&#10;&#10;AI によって生成されたコンテンツは間違っている可能性があります。">
            <a:extLst>
              <a:ext uri="{FF2B5EF4-FFF2-40B4-BE49-F238E27FC236}">
                <a16:creationId xmlns:a16="http://schemas.microsoft.com/office/drawing/2014/main" id="{D82BE423-3D74-FC6C-B0BA-933E40B294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5132" y="4411342"/>
            <a:ext cx="1399940" cy="1155859"/>
          </a:xfrm>
          <a:prstGeom prst="rect">
            <a:avLst/>
          </a:prstGeom>
        </p:spPr>
      </p:pic>
      <p:pic>
        <p:nvPicPr>
          <p:cNvPr id="10" name="図 9" descr="アイコン&#10;&#10;AI によって生成されたコンテンツは間違っている可能性があります。">
            <a:extLst>
              <a:ext uri="{FF2B5EF4-FFF2-40B4-BE49-F238E27FC236}">
                <a16:creationId xmlns:a16="http://schemas.microsoft.com/office/drawing/2014/main" id="{93EDE0EF-1DFF-9EBD-7F29-274A75EA9FAD}"/>
              </a:ext>
            </a:extLst>
          </p:cNvPr>
          <p:cNvPicPr>
            <a:picLocks noChangeAspect="1"/>
          </p:cNvPicPr>
          <p:nvPr/>
        </p:nvPicPr>
        <p:blipFill>
          <a:blip r:embed="rId5">
            <a:extLst>
              <a:ext uri="{28A0092B-C50C-407E-A947-70E740481C1C}">
                <a14:useLocalDpi xmlns:a14="http://schemas.microsoft.com/office/drawing/2010/main" val="0"/>
              </a:ext>
            </a:extLst>
          </a:blip>
          <a:srcRect l="56320" t="-1793" r="572" b="58913"/>
          <a:stretch/>
        </p:blipFill>
        <p:spPr>
          <a:xfrm>
            <a:off x="4494255" y="3972205"/>
            <a:ext cx="976680" cy="879450"/>
          </a:xfrm>
          <a:prstGeom prst="rect">
            <a:avLst/>
          </a:prstGeom>
        </p:spPr>
      </p:pic>
      <p:cxnSp>
        <p:nvCxnSpPr>
          <p:cNvPr id="12" name="コネクタ: 曲線 11">
            <a:extLst>
              <a:ext uri="{FF2B5EF4-FFF2-40B4-BE49-F238E27FC236}">
                <a16:creationId xmlns:a16="http://schemas.microsoft.com/office/drawing/2014/main" id="{302F8A66-9683-4BB5-817D-F2AC4D616F55}"/>
              </a:ext>
            </a:extLst>
          </p:cNvPr>
          <p:cNvCxnSpPr>
            <a:cxnSpLocks/>
            <a:stCxn id="5" idx="3"/>
            <a:endCxn id="6" idx="1"/>
          </p:cNvCxnSpPr>
          <p:nvPr/>
        </p:nvCxnSpPr>
        <p:spPr>
          <a:xfrm flipV="1">
            <a:off x="2126445" y="3647152"/>
            <a:ext cx="936521" cy="479055"/>
          </a:xfrm>
          <a:prstGeom prst="curvedConnector3">
            <a:avLst/>
          </a:prstGeom>
          <a:ln>
            <a:tailEnd type="triangle"/>
          </a:ln>
        </p:spPr>
        <p:style>
          <a:lnRef idx="3">
            <a:schemeClr val="dk1"/>
          </a:lnRef>
          <a:fillRef idx="0">
            <a:schemeClr val="dk1"/>
          </a:fillRef>
          <a:effectRef idx="2">
            <a:schemeClr val="dk1"/>
          </a:effectRef>
          <a:fontRef idx="minor">
            <a:schemeClr val="tx1"/>
          </a:fontRef>
        </p:style>
      </p:cxnSp>
      <p:cxnSp>
        <p:nvCxnSpPr>
          <p:cNvPr id="14" name="コネクタ: 曲線 13">
            <a:extLst>
              <a:ext uri="{FF2B5EF4-FFF2-40B4-BE49-F238E27FC236}">
                <a16:creationId xmlns:a16="http://schemas.microsoft.com/office/drawing/2014/main" id="{D104BC59-B2A2-6686-E923-A1E16445AEFC}"/>
              </a:ext>
            </a:extLst>
          </p:cNvPr>
          <p:cNvCxnSpPr>
            <a:cxnSpLocks/>
            <a:stCxn id="6" idx="3"/>
            <a:endCxn id="8" idx="1"/>
          </p:cNvCxnSpPr>
          <p:nvPr/>
        </p:nvCxnSpPr>
        <p:spPr>
          <a:xfrm>
            <a:off x="3974092" y="3647152"/>
            <a:ext cx="861040" cy="1342120"/>
          </a:xfrm>
          <a:prstGeom prst="curvedConnector3">
            <a:avLst/>
          </a:prstGeom>
          <a:ln>
            <a:tailEnd type="triangle"/>
          </a:ln>
        </p:spPr>
        <p:style>
          <a:lnRef idx="3">
            <a:schemeClr val="dk1"/>
          </a:lnRef>
          <a:fillRef idx="0">
            <a:schemeClr val="dk1"/>
          </a:fillRef>
          <a:effectRef idx="2">
            <a:schemeClr val="dk1"/>
          </a:effectRef>
          <a:fontRef idx="minor">
            <a:schemeClr val="tx1"/>
          </a:fontRef>
        </p:style>
      </p:cxnSp>
      <p:pic>
        <p:nvPicPr>
          <p:cNvPr id="31" name="図 30" descr="挿絵 が含まれている画像&#10;&#10;AI によって生成されたコンテンツは間違っている可能性があります。">
            <a:extLst>
              <a:ext uri="{FF2B5EF4-FFF2-40B4-BE49-F238E27FC236}">
                <a16:creationId xmlns:a16="http://schemas.microsoft.com/office/drawing/2014/main" id="{3F427B5B-0C1C-DEDC-D538-8D59147C01E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729159" y="3326043"/>
            <a:ext cx="1477415" cy="1312789"/>
          </a:xfrm>
          <a:prstGeom prst="rect">
            <a:avLst/>
          </a:prstGeom>
        </p:spPr>
      </p:pic>
      <p:cxnSp>
        <p:nvCxnSpPr>
          <p:cNvPr id="33" name="コネクタ: 曲線 32">
            <a:extLst>
              <a:ext uri="{FF2B5EF4-FFF2-40B4-BE49-F238E27FC236}">
                <a16:creationId xmlns:a16="http://schemas.microsoft.com/office/drawing/2014/main" id="{8315AEA1-1023-890B-FCE4-92045D3051D7}"/>
              </a:ext>
            </a:extLst>
          </p:cNvPr>
          <p:cNvCxnSpPr>
            <a:cxnSpLocks/>
            <a:stCxn id="31" idx="1"/>
            <a:endCxn id="8" idx="3"/>
          </p:cNvCxnSpPr>
          <p:nvPr/>
        </p:nvCxnSpPr>
        <p:spPr>
          <a:xfrm rot="10800000" flipV="1">
            <a:off x="6235073" y="3982438"/>
            <a:ext cx="2494087" cy="1006834"/>
          </a:xfrm>
          <a:prstGeom prst="curvedConnector3">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6" name="コネクタ: 曲線 35">
            <a:extLst>
              <a:ext uri="{FF2B5EF4-FFF2-40B4-BE49-F238E27FC236}">
                <a16:creationId xmlns:a16="http://schemas.microsoft.com/office/drawing/2014/main" id="{5672C8D9-427D-D14A-C602-737C30DE8CCA}"/>
              </a:ext>
            </a:extLst>
          </p:cNvPr>
          <p:cNvCxnSpPr>
            <a:stCxn id="31" idx="1"/>
            <a:endCxn id="7" idx="3"/>
          </p:cNvCxnSpPr>
          <p:nvPr/>
        </p:nvCxnSpPr>
        <p:spPr>
          <a:xfrm rot="10800000">
            <a:off x="6795971" y="3647152"/>
            <a:ext cx="1933189" cy="335287"/>
          </a:xfrm>
          <a:prstGeom prst="curvedConnector3">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7" name="楕円 36">
            <a:extLst>
              <a:ext uri="{FF2B5EF4-FFF2-40B4-BE49-F238E27FC236}">
                <a16:creationId xmlns:a16="http://schemas.microsoft.com/office/drawing/2014/main" id="{FABEA895-2396-9F1D-6392-379EB2008911}"/>
              </a:ext>
            </a:extLst>
          </p:cNvPr>
          <p:cNvSpPr/>
          <p:nvPr/>
        </p:nvSpPr>
        <p:spPr>
          <a:xfrm>
            <a:off x="5535102" y="5252018"/>
            <a:ext cx="2064776" cy="498987"/>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ja-JP"/>
              <a:t>gooogle.com</a:t>
            </a:r>
            <a:endParaRPr kumimoji="1" lang="ja-JP" altLang="en-US"/>
          </a:p>
        </p:txBody>
      </p:sp>
      <p:sp>
        <p:nvSpPr>
          <p:cNvPr id="38" name="楕円 37">
            <a:extLst>
              <a:ext uri="{FF2B5EF4-FFF2-40B4-BE49-F238E27FC236}">
                <a16:creationId xmlns:a16="http://schemas.microsoft.com/office/drawing/2014/main" id="{AB7874E1-BC51-CE41-72EA-F260E6B66717}"/>
              </a:ext>
            </a:extLst>
          </p:cNvPr>
          <p:cNvSpPr/>
          <p:nvPr/>
        </p:nvSpPr>
        <p:spPr>
          <a:xfrm>
            <a:off x="6096000" y="2805541"/>
            <a:ext cx="2064776" cy="498987"/>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altLang="ja-JP"/>
              <a:t>google.com</a:t>
            </a:r>
            <a:endParaRPr kumimoji="1" lang="ja-JP" altLang="en-US"/>
          </a:p>
        </p:txBody>
      </p:sp>
      <p:cxnSp>
        <p:nvCxnSpPr>
          <p:cNvPr id="40" name="コネクタ: 曲線 39">
            <a:extLst>
              <a:ext uri="{FF2B5EF4-FFF2-40B4-BE49-F238E27FC236}">
                <a16:creationId xmlns:a16="http://schemas.microsoft.com/office/drawing/2014/main" id="{4E049A55-EC1A-B2D6-1E28-143229EE760B}"/>
              </a:ext>
            </a:extLst>
          </p:cNvPr>
          <p:cNvCxnSpPr>
            <a:stCxn id="8" idx="3"/>
            <a:endCxn id="31" idx="2"/>
          </p:cNvCxnSpPr>
          <p:nvPr/>
        </p:nvCxnSpPr>
        <p:spPr>
          <a:xfrm flipV="1">
            <a:off x="6235072" y="4638832"/>
            <a:ext cx="3232795" cy="350440"/>
          </a:xfrm>
          <a:prstGeom prst="curvedConnector2">
            <a:avLst/>
          </a:prstGeom>
          <a:ln>
            <a:tailEnd type="triangle"/>
          </a:ln>
        </p:spPr>
        <p:style>
          <a:lnRef idx="3">
            <a:schemeClr val="accent2"/>
          </a:lnRef>
          <a:fillRef idx="0">
            <a:schemeClr val="accent2"/>
          </a:fillRef>
          <a:effectRef idx="2">
            <a:schemeClr val="accent2"/>
          </a:effectRef>
          <a:fontRef idx="minor">
            <a:schemeClr val="tx1"/>
          </a:fontRef>
        </p:style>
      </p:cxnSp>
      <p:pic>
        <p:nvPicPr>
          <p:cNvPr id="41" name="図 40" descr="アイコン&#10;&#10;AI によって生成されたコンテンツは間違っている可能性があります。">
            <a:extLst>
              <a:ext uri="{FF2B5EF4-FFF2-40B4-BE49-F238E27FC236}">
                <a16:creationId xmlns:a16="http://schemas.microsoft.com/office/drawing/2014/main" id="{E615ABC5-1422-0232-4B5F-B396DDB9C782}"/>
              </a:ext>
            </a:extLst>
          </p:cNvPr>
          <p:cNvPicPr>
            <a:picLocks noChangeAspect="1"/>
          </p:cNvPicPr>
          <p:nvPr/>
        </p:nvPicPr>
        <p:blipFill>
          <a:blip r:embed="rId5">
            <a:extLst>
              <a:ext uri="{28A0092B-C50C-407E-A947-70E740481C1C}">
                <a14:useLocalDpi xmlns:a14="http://schemas.microsoft.com/office/drawing/2010/main" val="0"/>
              </a:ext>
            </a:extLst>
          </a:blip>
          <a:srcRect l="56320" t="-1793" r="572" b="58913"/>
          <a:stretch/>
        </p:blipFill>
        <p:spPr>
          <a:xfrm>
            <a:off x="7950046" y="4674293"/>
            <a:ext cx="699604" cy="629957"/>
          </a:xfrm>
          <a:prstGeom prst="rect">
            <a:avLst/>
          </a:prstGeom>
        </p:spPr>
      </p:pic>
    </p:spTree>
    <p:extLst>
      <p:ext uri="{BB962C8B-B14F-4D97-AF65-F5344CB8AC3E}">
        <p14:creationId xmlns:p14="http://schemas.microsoft.com/office/powerpoint/2010/main" val="1288831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64DFC-C2EE-1BE8-F8DB-8D94D629C37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54B41CA-CCCF-95DB-9516-6282CD45CE2C}"/>
              </a:ext>
            </a:extLst>
          </p:cNvPr>
          <p:cNvSpPr>
            <a:spLocks noGrp="1"/>
          </p:cNvSpPr>
          <p:nvPr>
            <p:ph type="title"/>
          </p:nvPr>
        </p:nvSpPr>
        <p:spPr/>
        <p:txBody>
          <a:bodyPr/>
          <a:lstStyle/>
          <a:p>
            <a:r>
              <a:rPr kumimoji="1" lang="ja-JP" altLang="en-US"/>
              <a:t>研究背景</a:t>
            </a:r>
          </a:p>
        </p:txBody>
      </p:sp>
      <p:sp>
        <p:nvSpPr>
          <p:cNvPr id="3" name="コンテンツ プレースホルダー 2">
            <a:extLst>
              <a:ext uri="{FF2B5EF4-FFF2-40B4-BE49-F238E27FC236}">
                <a16:creationId xmlns:a16="http://schemas.microsoft.com/office/drawing/2014/main" id="{E202030A-7682-75D1-9DDB-937F0ADDE725}"/>
              </a:ext>
            </a:extLst>
          </p:cNvPr>
          <p:cNvSpPr>
            <a:spLocks noGrp="1"/>
          </p:cNvSpPr>
          <p:nvPr>
            <p:ph sz="half" idx="1"/>
          </p:nvPr>
        </p:nvSpPr>
        <p:spPr>
          <a:xfrm>
            <a:off x="838200" y="1825625"/>
            <a:ext cx="10515600" cy="4351338"/>
          </a:xfrm>
        </p:spPr>
        <p:txBody>
          <a:bodyPr>
            <a:normAutofit/>
          </a:bodyPr>
          <a:lstStyle/>
          <a:p>
            <a:r>
              <a:rPr lang="ja-JP" altLang="en-US" sz="2800">
                <a:solidFill>
                  <a:srgbClr val="111111"/>
                </a:solidFill>
                <a:latin typeface="Roboto" panose="02000000000000000000" pitchFamily="2" charset="0"/>
              </a:rPr>
              <a:t>電子メール</a:t>
            </a:r>
            <a:r>
              <a:rPr lang="ja-JP" altLang="en-US" sz="2800" b="0" i="0">
                <a:solidFill>
                  <a:srgbClr val="111111"/>
                </a:solidFill>
                <a:effectLst/>
                <a:latin typeface="Roboto" panose="02000000000000000000" pitchFamily="2" charset="0"/>
              </a:rPr>
              <a:t>タイポスクワッティング</a:t>
            </a:r>
            <a:endParaRPr kumimoji="1" lang="en-US" altLang="ja-JP" sz="2800"/>
          </a:p>
        </p:txBody>
      </p:sp>
      <p:pic>
        <p:nvPicPr>
          <p:cNvPr id="5" name="図 4" descr="アイコン&#10;&#10;AI によって生成されたコンテンツは間違っている可能性があります。">
            <a:extLst>
              <a:ext uri="{FF2B5EF4-FFF2-40B4-BE49-F238E27FC236}">
                <a16:creationId xmlns:a16="http://schemas.microsoft.com/office/drawing/2014/main" id="{7BC3E210-67A9-6A71-A87D-061C7F0B43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731" y="3429000"/>
            <a:ext cx="1480714" cy="1394414"/>
          </a:xfrm>
          <a:prstGeom prst="rect">
            <a:avLst/>
          </a:prstGeom>
        </p:spPr>
      </p:pic>
      <p:pic>
        <p:nvPicPr>
          <p:cNvPr id="6" name="図 5" descr="テキスト&#10;&#10;AI によって生成されたコンテンツは間違っている可能性があります。">
            <a:extLst>
              <a:ext uri="{FF2B5EF4-FFF2-40B4-BE49-F238E27FC236}">
                <a16:creationId xmlns:a16="http://schemas.microsoft.com/office/drawing/2014/main" id="{10774AF2-EA4F-D371-297B-FF71D30A54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2976" y="3076008"/>
            <a:ext cx="911126" cy="906429"/>
          </a:xfrm>
          <a:prstGeom prst="rect">
            <a:avLst/>
          </a:prstGeom>
        </p:spPr>
      </p:pic>
      <p:cxnSp>
        <p:nvCxnSpPr>
          <p:cNvPr id="12" name="コネクタ: 曲線 11">
            <a:extLst>
              <a:ext uri="{FF2B5EF4-FFF2-40B4-BE49-F238E27FC236}">
                <a16:creationId xmlns:a16="http://schemas.microsoft.com/office/drawing/2014/main" id="{59684647-5FDB-BAA1-BC62-E8BA1D197635}"/>
              </a:ext>
            </a:extLst>
          </p:cNvPr>
          <p:cNvCxnSpPr>
            <a:cxnSpLocks/>
            <a:stCxn id="5" idx="3"/>
            <a:endCxn id="6" idx="1"/>
          </p:cNvCxnSpPr>
          <p:nvPr/>
        </p:nvCxnSpPr>
        <p:spPr>
          <a:xfrm flipV="1">
            <a:off x="2126445" y="3529223"/>
            <a:ext cx="776531" cy="596984"/>
          </a:xfrm>
          <a:prstGeom prst="curvedConnector3">
            <a:avLst/>
          </a:prstGeom>
          <a:ln>
            <a:tailEnd type="triangle"/>
          </a:ln>
        </p:spPr>
        <p:style>
          <a:lnRef idx="3">
            <a:schemeClr val="dk1"/>
          </a:lnRef>
          <a:fillRef idx="0">
            <a:schemeClr val="dk1"/>
          </a:fillRef>
          <a:effectRef idx="2">
            <a:schemeClr val="dk1"/>
          </a:effectRef>
          <a:fontRef idx="minor">
            <a:schemeClr val="tx1"/>
          </a:fontRef>
        </p:style>
      </p:cxnSp>
      <p:cxnSp>
        <p:nvCxnSpPr>
          <p:cNvPr id="14" name="コネクタ: 曲線 13">
            <a:extLst>
              <a:ext uri="{FF2B5EF4-FFF2-40B4-BE49-F238E27FC236}">
                <a16:creationId xmlns:a16="http://schemas.microsoft.com/office/drawing/2014/main" id="{4F2BD020-3BB7-0BAF-AFC6-ED74F481A83E}"/>
              </a:ext>
            </a:extLst>
          </p:cNvPr>
          <p:cNvCxnSpPr>
            <a:cxnSpLocks/>
            <a:stCxn id="6" idx="3"/>
            <a:endCxn id="21" idx="1"/>
          </p:cNvCxnSpPr>
          <p:nvPr/>
        </p:nvCxnSpPr>
        <p:spPr>
          <a:xfrm>
            <a:off x="3814102" y="3529223"/>
            <a:ext cx="1367143" cy="1569214"/>
          </a:xfrm>
          <a:prstGeom prst="curvedConnector3">
            <a:avLst/>
          </a:prstGeom>
          <a:ln>
            <a:tailEnd type="triangle"/>
          </a:ln>
        </p:spPr>
        <p:style>
          <a:lnRef idx="3">
            <a:schemeClr val="dk1"/>
          </a:lnRef>
          <a:fillRef idx="0">
            <a:schemeClr val="dk1"/>
          </a:fillRef>
          <a:effectRef idx="2">
            <a:schemeClr val="dk1"/>
          </a:effectRef>
          <a:fontRef idx="minor">
            <a:schemeClr val="tx1"/>
          </a:fontRef>
        </p:style>
      </p:cxnSp>
      <p:pic>
        <p:nvPicPr>
          <p:cNvPr id="13" name="図 12" descr="障子, 建物, 挿絵, ウィンドウ が含まれている画像&#10;&#10;AI によって生成されたコンテンツは間違っている可能性があります。">
            <a:extLst>
              <a:ext uri="{FF2B5EF4-FFF2-40B4-BE49-F238E27FC236}">
                <a16:creationId xmlns:a16="http://schemas.microsoft.com/office/drawing/2014/main" id="{E00CC747-F47E-82B2-2782-805FC84405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35581" y="3186031"/>
            <a:ext cx="1740027" cy="940176"/>
          </a:xfrm>
          <a:prstGeom prst="rect">
            <a:avLst/>
          </a:prstGeom>
        </p:spPr>
      </p:pic>
      <p:pic>
        <p:nvPicPr>
          <p:cNvPr id="16" name="図 15" descr="アイコン が含まれている画像&#10;&#10;AI によって生成されたコンテンツは間違っている可能性があります。">
            <a:extLst>
              <a:ext uri="{FF2B5EF4-FFF2-40B4-BE49-F238E27FC236}">
                <a16:creationId xmlns:a16="http://schemas.microsoft.com/office/drawing/2014/main" id="{B68A8E08-5031-F806-C19E-3A452AD7533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85763" y="3003962"/>
            <a:ext cx="1586230" cy="775980"/>
          </a:xfrm>
          <a:prstGeom prst="rect">
            <a:avLst/>
          </a:prstGeom>
        </p:spPr>
      </p:pic>
      <p:pic>
        <p:nvPicPr>
          <p:cNvPr id="18" name="図 17" descr="アイコン&#10;&#10;AI によって生成されたコンテンツは間違っている可能性があります。">
            <a:extLst>
              <a:ext uri="{FF2B5EF4-FFF2-40B4-BE49-F238E27FC236}">
                <a16:creationId xmlns:a16="http://schemas.microsoft.com/office/drawing/2014/main" id="{CF62E8AF-A30B-D508-9D03-303D2386A4F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05594" y="3325133"/>
            <a:ext cx="1470747" cy="1268289"/>
          </a:xfrm>
          <a:prstGeom prst="rect">
            <a:avLst/>
          </a:prstGeom>
        </p:spPr>
      </p:pic>
      <p:pic>
        <p:nvPicPr>
          <p:cNvPr id="21" name="図 20" descr="アイコン が含まれている画像&#10;&#10;AI によって生成されたコンテンツは間違っている可能性があります。">
            <a:extLst>
              <a:ext uri="{FF2B5EF4-FFF2-40B4-BE49-F238E27FC236}">
                <a16:creationId xmlns:a16="http://schemas.microsoft.com/office/drawing/2014/main" id="{7F5678AD-8006-F321-4389-71B05A84B6C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81245" y="4695265"/>
            <a:ext cx="1648298" cy="806344"/>
          </a:xfrm>
          <a:prstGeom prst="rect">
            <a:avLst/>
          </a:prstGeom>
        </p:spPr>
      </p:pic>
      <p:pic>
        <p:nvPicPr>
          <p:cNvPr id="10" name="図 9" descr="アイコン&#10;&#10;AI によって生成されたコンテンツは間違っている可能性があります。">
            <a:extLst>
              <a:ext uri="{FF2B5EF4-FFF2-40B4-BE49-F238E27FC236}">
                <a16:creationId xmlns:a16="http://schemas.microsoft.com/office/drawing/2014/main" id="{0AB5DAB2-A80B-A269-984D-9F7E92993461}"/>
              </a:ext>
            </a:extLst>
          </p:cNvPr>
          <p:cNvPicPr>
            <a:picLocks noChangeAspect="1"/>
          </p:cNvPicPr>
          <p:nvPr/>
        </p:nvPicPr>
        <p:blipFill>
          <a:blip r:embed="rId7">
            <a:extLst>
              <a:ext uri="{28A0092B-C50C-407E-A947-70E740481C1C}">
                <a14:useLocalDpi xmlns:a14="http://schemas.microsoft.com/office/drawing/2010/main" val="0"/>
              </a:ext>
            </a:extLst>
          </a:blip>
          <a:srcRect l="56320" t="-1793" r="572" b="58913"/>
          <a:stretch/>
        </p:blipFill>
        <p:spPr>
          <a:xfrm>
            <a:off x="4987040" y="4430265"/>
            <a:ext cx="895492" cy="806344"/>
          </a:xfrm>
          <a:prstGeom prst="rect">
            <a:avLst/>
          </a:prstGeom>
        </p:spPr>
      </p:pic>
      <p:cxnSp>
        <p:nvCxnSpPr>
          <p:cNvPr id="24" name="コネクタ: 曲線 23">
            <a:extLst>
              <a:ext uri="{FF2B5EF4-FFF2-40B4-BE49-F238E27FC236}">
                <a16:creationId xmlns:a16="http://schemas.microsoft.com/office/drawing/2014/main" id="{78C65E48-384E-E423-ACDB-4C61CE1580BB}"/>
              </a:ext>
            </a:extLst>
          </p:cNvPr>
          <p:cNvCxnSpPr>
            <a:stCxn id="18" idx="1"/>
            <a:endCxn id="16" idx="3"/>
          </p:cNvCxnSpPr>
          <p:nvPr/>
        </p:nvCxnSpPr>
        <p:spPr>
          <a:xfrm rot="10800000">
            <a:off x="6671994" y="3391952"/>
            <a:ext cx="2833601" cy="567326"/>
          </a:xfrm>
          <a:prstGeom prst="curvedConnector3">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コネクタ: 曲線 25">
            <a:extLst>
              <a:ext uri="{FF2B5EF4-FFF2-40B4-BE49-F238E27FC236}">
                <a16:creationId xmlns:a16="http://schemas.microsoft.com/office/drawing/2014/main" id="{D41CAF35-718D-524D-5055-F6010B24D94E}"/>
              </a:ext>
            </a:extLst>
          </p:cNvPr>
          <p:cNvCxnSpPr>
            <a:endCxn id="21" idx="3"/>
          </p:cNvCxnSpPr>
          <p:nvPr/>
        </p:nvCxnSpPr>
        <p:spPr>
          <a:xfrm rot="10800000" flipV="1">
            <a:off x="6829544" y="4456353"/>
            <a:ext cx="2629207" cy="642083"/>
          </a:xfrm>
          <a:prstGeom prst="curvedConnector3">
            <a:avLst/>
          </a:prstGeom>
          <a:ln>
            <a:tailEnd type="triangle"/>
          </a:ln>
        </p:spPr>
        <p:style>
          <a:lnRef idx="3">
            <a:schemeClr val="accent2"/>
          </a:lnRef>
          <a:fillRef idx="0">
            <a:schemeClr val="accent2"/>
          </a:fillRef>
          <a:effectRef idx="2">
            <a:schemeClr val="accent2"/>
          </a:effectRef>
          <a:fontRef idx="minor">
            <a:schemeClr val="tx1"/>
          </a:fontRef>
        </p:style>
      </p:cxnSp>
      <p:sp>
        <p:nvSpPr>
          <p:cNvPr id="37" name="楕円 36">
            <a:extLst>
              <a:ext uri="{FF2B5EF4-FFF2-40B4-BE49-F238E27FC236}">
                <a16:creationId xmlns:a16="http://schemas.microsoft.com/office/drawing/2014/main" id="{05E4587E-4F66-0E48-356A-3048B6C88690}"/>
              </a:ext>
            </a:extLst>
          </p:cNvPr>
          <p:cNvSpPr/>
          <p:nvPr/>
        </p:nvSpPr>
        <p:spPr>
          <a:xfrm>
            <a:off x="5010690" y="5273983"/>
            <a:ext cx="2064776" cy="498987"/>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ja-JP"/>
              <a:t>@gmai.com</a:t>
            </a:r>
            <a:endParaRPr kumimoji="1" lang="ja-JP" altLang="en-US"/>
          </a:p>
        </p:txBody>
      </p:sp>
      <p:sp>
        <p:nvSpPr>
          <p:cNvPr id="38" name="楕円 37">
            <a:extLst>
              <a:ext uri="{FF2B5EF4-FFF2-40B4-BE49-F238E27FC236}">
                <a16:creationId xmlns:a16="http://schemas.microsoft.com/office/drawing/2014/main" id="{6B48FEA5-B459-3021-8613-9DEAEF31DB4F}"/>
              </a:ext>
            </a:extLst>
          </p:cNvPr>
          <p:cNvSpPr/>
          <p:nvPr/>
        </p:nvSpPr>
        <p:spPr>
          <a:xfrm>
            <a:off x="4867059" y="2802670"/>
            <a:ext cx="2064776" cy="498987"/>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altLang="ja-JP"/>
              <a:t>@gmail.com</a:t>
            </a:r>
            <a:endParaRPr kumimoji="1" lang="ja-JP" altLang="en-US"/>
          </a:p>
        </p:txBody>
      </p:sp>
      <p:sp>
        <p:nvSpPr>
          <p:cNvPr id="29" name="四角形: 角を丸くする 28">
            <a:extLst>
              <a:ext uri="{FF2B5EF4-FFF2-40B4-BE49-F238E27FC236}">
                <a16:creationId xmlns:a16="http://schemas.microsoft.com/office/drawing/2014/main" id="{B5978739-78D1-8D28-2C73-1D5ACF9F8DE9}"/>
              </a:ext>
            </a:extLst>
          </p:cNvPr>
          <p:cNvSpPr/>
          <p:nvPr/>
        </p:nvSpPr>
        <p:spPr>
          <a:xfrm>
            <a:off x="8754393" y="4695265"/>
            <a:ext cx="1608002" cy="1077705"/>
          </a:xfrm>
          <a:prstGeom prst="roundRect">
            <a:avLst/>
          </a:prstGeom>
          <a:solidFill>
            <a:schemeClr val="tx2">
              <a:lumMod val="60000"/>
              <a:lumOff val="40000"/>
            </a:schemeClr>
          </a:solidFill>
        </p:spPr>
        <p:style>
          <a:lnRef idx="3">
            <a:schemeClr val="lt1"/>
          </a:lnRef>
          <a:fillRef idx="1">
            <a:schemeClr val="accent3"/>
          </a:fillRef>
          <a:effectRef idx="1">
            <a:schemeClr val="accent3"/>
          </a:effectRef>
          <a:fontRef idx="minor">
            <a:schemeClr val="lt1"/>
          </a:fontRef>
        </p:style>
        <p:txBody>
          <a:bodyPr rtlCol="0" anchor="ctr"/>
          <a:lstStyle/>
          <a:p>
            <a:r>
              <a:rPr lang="en-US" altLang="ja-JP" sz="1200">
                <a:solidFill>
                  <a:schemeClr val="bg1"/>
                </a:solidFill>
              </a:rPr>
              <a:t> @ gmai.com</a:t>
            </a:r>
            <a:endParaRPr kumimoji="1" lang="en-US" altLang="ja-JP" sz="1200">
              <a:solidFill>
                <a:schemeClr val="bg1"/>
              </a:solidFill>
            </a:endParaRPr>
          </a:p>
          <a:p>
            <a:endParaRPr lang="en-US" altLang="ja-JP" sz="1200">
              <a:solidFill>
                <a:schemeClr val="bg1"/>
              </a:solidFill>
            </a:endParaRPr>
          </a:p>
          <a:p>
            <a:r>
              <a:rPr lang="ja-JP" altLang="en-US" sz="1200">
                <a:solidFill>
                  <a:schemeClr val="bg1"/>
                </a:solidFill>
              </a:rPr>
              <a:t>・</a:t>
            </a:r>
            <a:r>
              <a:rPr kumimoji="1" lang="ja-JP" altLang="en-US" sz="1200">
                <a:solidFill>
                  <a:schemeClr val="bg1"/>
                </a:solidFill>
              </a:rPr>
              <a:t>ユーザー名</a:t>
            </a:r>
            <a:endParaRPr kumimoji="1" lang="en-US" altLang="ja-JP" sz="1200">
              <a:solidFill>
                <a:schemeClr val="bg1"/>
              </a:solidFill>
            </a:endParaRPr>
          </a:p>
          <a:p>
            <a:r>
              <a:rPr lang="ja-JP" altLang="en-US" sz="1200">
                <a:solidFill>
                  <a:schemeClr val="bg1"/>
                </a:solidFill>
              </a:rPr>
              <a:t>・パスワード</a:t>
            </a:r>
            <a:endParaRPr kumimoji="1" lang="ja-JP" altLang="en-US" sz="1200">
              <a:solidFill>
                <a:schemeClr val="bg1"/>
              </a:solidFill>
            </a:endParaRPr>
          </a:p>
        </p:txBody>
      </p:sp>
      <p:cxnSp>
        <p:nvCxnSpPr>
          <p:cNvPr id="34" name="直線矢印コネクタ 33">
            <a:extLst>
              <a:ext uri="{FF2B5EF4-FFF2-40B4-BE49-F238E27FC236}">
                <a16:creationId xmlns:a16="http://schemas.microsoft.com/office/drawing/2014/main" id="{5BE0E96F-A879-665E-8D31-411933973F96}"/>
              </a:ext>
            </a:extLst>
          </p:cNvPr>
          <p:cNvCxnSpPr>
            <a:cxnSpLocks/>
            <a:stCxn id="21" idx="0"/>
          </p:cNvCxnSpPr>
          <p:nvPr/>
        </p:nvCxnSpPr>
        <p:spPr>
          <a:xfrm flipH="1" flipV="1">
            <a:off x="5919757" y="3806317"/>
            <a:ext cx="85637" cy="88894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pic>
        <p:nvPicPr>
          <p:cNvPr id="39" name="図 38" descr="図形&#10;&#10;AI によって生成されたコンテンツは間違っている可能性があります。">
            <a:extLst>
              <a:ext uri="{FF2B5EF4-FFF2-40B4-BE49-F238E27FC236}">
                <a16:creationId xmlns:a16="http://schemas.microsoft.com/office/drawing/2014/main" id="{D716404C-93C0-E278-ABE0-7CA3CD85B02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997104" y="3949541"/>
            <a:ext cx="841520" cy="534877"/>
          </a:xfrm>
          <a:prstGeom prst="rect">
            <a:avLst/>
          </a:prstGeom>
        </p:spPr>
      </p:pic>
      <p:pic>
        <p:nvPicPr>
          <p:cNvPr id="42" name="図 41" descr="図形&#10;&#10;AI によって生成されたコンテンツは間違っている可能性があります。">
            <a:extLst>
              <a:ext uri="{FF2B5EF4-FFF2-40B4-BE49-F238E27FC236}">
                <a16:creationId xmlns:a16="http://schemas.microsoft.com/office/drawing/2014/main" id="{9E554885-60AA-A7BC-C519-A15164E6A68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277067" y="3206267"/>
            <a:ext cx="841520" cy="534877"/>
          </a:xfrm>
          <a:prstGeom prst="rect">
            <a:avLst/>
          </a:prstGeom>
        </p:spPr>
      </p:pic>
      <p:pic>
        <p:nvPicPr>
          <p:cNvPr id="43" name="図 42" descr="図形&#10;&#10;AI によって生成されたコンテンツは間違っている可能性があります。">
            <a:extLst>
              <a:ext uri="{FF2B5EF4-FFF2-40B4-BE49-F238E27FC236}">
                <a16:creationId xmlns:a16="http://schemas.microsoft.com/office/drawing/2014/main" id="{A256A198-6F93-328C-F4E2-555ACC3451C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742268" y="4484418"/>
            <a:ext cx="841520" cy="534877"/>
          </a:xfrm>
          <a:prstGeom prst="rect">
            <a:avLst/>
          </a:prstGeom>
        </p:spPr>
      </p:pic>
    </p:spTree>
    <p:extLst>
      <p:ext uri="{BB962C8B-B14F-4D97-AF65-F5344CB8AC3E}">
        <p14:creationId xmlns:p14="http://schemas.microsoft.com/office/powerpoint/2010/main" val="3750017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111A9-4453-DBA8-92BE-96536D8917D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BE336EC-A20B-F66F-E880-E7D605B58A30}"/>
              </a:ext>
            </a:extLst>
          </p:cNvPr>
          <p:cNvSpPr>
            <a:spLocks noGrp="1"/>
          </p:cNvSpPr>
          <p:nvPr>
            <p:ph type="title"/>
          </p:nvPr>
        </p:nvSpPr>
        <p:spPr/>
        <p:txBody>
          <a:bodyPr/>
          <a:lstStyle/>
          <a:p>
            <a:r>
              <a:rPr kumimoji="1" lang="ja-JP" altLang="en-US"/>
              <a:t>研究背景</a:t>
            </a:r>
          </a:p>
        </p:txBody>
      </p:sp>
      <p:sp>
        <p:nvSpPr>
          <p:cNvPr id="3" name="コンテンツ プレースホルダー 2">
            <a:extLst>
              <a:ext uri="{FF2B5EF4-FFF2-40B4-BE49-F238E27FC236}">
                <a16:creationId xmlns:a16="http://schemas.microsoft.com/office/drawing/2014/main" id="{D9D748D4-0D43-49DB-1D4F-B09988A40140}"/>
              </a:ext>
            </a:extLst>
          </p:cNvPr>
          <p:cNvSpPr>
            <a:spLocks noGrp="1"/>
          </p:cNvSpPr>
          <p:nvPr>
            <p:ph sz="half" idx="1"/>
          </p:nvPr>
        </p:nvSpPr>
        <p:spPr>
          <a:xfrm>
            <a:off x="838200" y="1825625"/>
            <a:ext cx="10515600" cy="4351338"/>
          </a:xfrm>
        </p:spPr>
        <p:txBody>
          <a:bodyPr>
            <a:normAutofit/>
          </a:bodyPr>
          <a:lstStyle/>
          <a:p>
            <a:r>
              <a:rPr lang="ja-JP" altLang="en-US" sz="2800"/>
              <a:t>個人情報漏洩（・フィッシング）に繋がる</a:t>
            </a:r>
            <a:endParaRPr lang="en-US" altLang="ja-JP" sz="2800"/>
          </a:p>
          <a:p>
            <a:pPr marL="0" indent="0">
              <a:buNone/>
            </a:pPr>
            <a:endParaRPr kumimoji="1" lang="en-US" altLang="ja-JP" sz="2400"/>
          </a:p>
          <a:p>
            <a:pPr marL="0" indent="0">
              <a:buNone/>
            </a:pPr>
            <a:r>
              <a:rPr kumimoji="1" lang="ja-JP" altLang="en-US" sz="2400"/>
              <a:t>・現在、ビジネスチャットの導入が進んでいるが、他社への連絡にはメールを使っているところが多い</a:t>
            </a:r>
          </a:p>
          <a:p>
            <a:pPr marL="0" indent="0">
              <a:buNone/>
            </a:pPr>
            <a:r>
              <a:rPr kumimoji="1" lang="ja-JP" altLang="en-US" sz="2400"/>
              <a:t>・日本情報経済社会推進協会（</a:t>
            </a:r>
            <a:r>
              <a:rPr kumimoji="1" lang="en-US" altLang="ja-JP" sz="2400"/>
              <a:t>JIPDEC</a:t>
            </a:r>
            <a:r>
              <a:rPr kumimoji="1" lang="ja-JP" altLang="en-US" sz="2400"/>
              <a:t>）によると、</a:t>
            </a:r>
            <a:r>
              <a:rPr kumimoji="1" lang="en-US" altLang="ja-JP" sz="2400"/>
              <a:t>2019</a:t>
            </a:r>
            <a:r>
              <a:rPr kumimoji="1" lang="ja-JP" altLang="en-US" sz="2400"/>
              <a:t>年度に報告された個人情報に関するインシデントのうち、</a:t>
            </a:r>
            <a:r>
              <a:rPr kumimoji="1" lang="en-US" altLang="ja-JP" sz="2400"/>
              <a:t>23.2</a:t>
            </a:r>
            <a:r>
              <a:rPr kumimoji="1" lang="ja-JP" altLang="en-US" sz="2400"/>
              <a:t>％の</a:t>
            </a:r>
            <a:r>
              <a:rPr kumimoji="1" lang="en-US" altLang="ja-JP" sz="2400"/>
              <a:t>590</a:t>
            </a:r>
            <a:r>
              <a:rPr kumimoji="1" lang="ja-JP" altLang="en-US" sz="2400"/>
              <a:t>件がメール誤送信によるもの</a:t>
            </a:r>
            <a:endParaRPr kumimoji="1" lang="en-US" altLang="ja-JP" sz="2400"/>
          </a:p>
          <a:p>
            <a:pPr marL="0" indent="0">
              <a:buNone/>
            </a:pPr>
            <a:r>
              <a:rPr kumimoji="1" lang="ja-JP" altLang="en-US" sz="2400"/>
              <a:t>・日本ネットワークセキュリティ協会（</a:t>
            </a:r>
            <a:r>
              <a:rPr kumimoji="1" lang="en-US" altLang="ja-JP" sz="2400"/>
              <a:t>JNSA</a:t>
            </a:r>
            <a:r>
              <a:rPr kumimoji="1" lang="ja-JP" altLang="en-US" sz="2400"/>
              <a:t>）によると、</a:t>
            </a:r>
            <a:r>
              <a:rPr kumimoji="1" lang="en-US" altLang="ja-JP" sz="2400"/>
              <a:t>2018</a:t>
            </a:r>
            <a:r>
              <a:rPr kumimoji="1" lang="ja-JP" altLang="en-US" sz="2400"/>
              <a:t>年中に報道された情報流出に関するインシデントの</a:t>
            </a:r>
            <a:r>
              <a:rPr kumimoji="1" lang="en-US" altLang="ja-JP" sz="2400"/>
              <a:t>21.4</a:t>
            </a:r>
            <a:r>
              <a:rPr kumimoji="1" lang="ja-JP" altLang="en-US" sz="2400"/>
              <a:t>％がメール経由。</a:t>
            </a:r>
            <a:endParaRPr kumimoji="1" lang="en-US" altLang="ja-JP" sz="2400"/>
          </a:p>
          <a:p>
            <a:endParaRPr kumimoji="1" lang="en-US" altLang="ja-JP" sz="2800"/>
          </a:p>
        </p:txBody>
      </p:sp>
    </p:spTree>
    <p:extLst>
      <p:ext uri="{BB962C8B-B14F-4D97-AF65-F5344CB8AC3E}">
        <p14:creationId xmlns:p14="http://schemas.microsoft.com/office/powerpoint/2010/main" val="1077490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08E5B-ACAF-1495-0D00-0CF69E1FEB1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5CC78AD-F352-7D31-C6F1-F2E9008F5493}"/>
              </a:ext>
            </a:extLst>
          </p:cNvPr>
          <p:cNvSpPr>
            <a:spLocks noGrp="1"/>
          </p:cNvSpPr>
          <p:nvPr>
            <p:ph type="title"/>
          </p:nvPr>
        </p:nvSpPr>
        <p:spPr/>
        <p:txBody>
          <a:bodyPr/>
          <a:lstStyle/>
          <a:p>
            <a:r>
              <a:rPr kumimoji="1" lang="ja-JP" altLang="en-US"/>
              <a:t>研究背景</a:t>
            </a:r>
          </a:p>
        </p:txBody>
      </p:sp>
      <p:sp>
        <p:nvSpPr>
          <p:cNvPr id="3" name="コンテンツ プレースホルダー 2">
            <a:extLst>
              <a:ext uri="{FF2B5EF4-FFF2-40B4-BE49-F238E27FC236}">
                <a16:creationId xmlns:a16="http://schemas.microsoft.com/office/drawing/2014/main" id="{153D6503-AD1F-928A-FBA4-6CFCFD5169D7}"/>
              </a:ext>
            </a:extLst>
          </p:cNvPr>
          <p:cNvSpPr>
            <a:spLocks noGrp="1"/>
          </p:cNvSpPr>
          <p:nvPr>
            <p:ph sz="half" idx="1"/>
          </p:nvPr>
        </p:nvSpPr>
        <p:spPr>
          <a:xfrm>
            <a:off x="838200" y="1825625"/>
            <a:ext cx="10515600" cy="4351338"/>
          </a:xfrm>
        </p:spPr>
        <p:txBody>
          <a:bodyPr>
            <a:normAutofit/>
          </a:bodyPr>
          <a:lstStyle/>
          <a:p>
            <a:r>
              <a:rPr kumimoji="1" lang="ja-JP" altLang="en-US" sz="2800"/>
              <a:t>タイポによる被害例</a:t>
            </a:r>
            <a:endParaRPr kumimoji="1" lang="en-US" altLang="ja-JP" sz="2800"/>
          </a:p>
          <a:p>
            <a:pPr marL="0" indent="0">
              <a:buNone/>
            </a:pPr>
            <a:r>
              <a:rPr kumimoji="1" lang="ja-JP" altLang="en-US" sz="2800"/>
              <a:t>新潟県</a:t>
            </a:r>
            <a:br>
              <a:rPr kumimoji="1" lang="en-US" altLang="ja-JP" sz="2800"/>
            </a:br>
            <a:endParaRPr kumimoji="1" lang="en-US" altLang="ja-JP" sz="2800"/>
          </a:p>
          <a:p>
            <a:pPr marL="0" indent="0">
              <a:buNone/>
            </a:pPr>
            <a:r>
              <a:rPr lang="en-US" altLang="ja-JP" sz="2400"/>
              <a:t>@gmail.com</a:t>
            </a:r>
          </a:p>
          <a:p>
            <a:pPr marL="0" indent="0">
              <a:buNone/>
            </a:pPr>
            <a:r>
              <a:rPr kumimoji="1" lang="ja-JP" altLang="en-US" sz="2400"/>
              <a:t>↓</a:t>
            </a:r>
            <a:endParaRPr kumimoji="1" lang="en-US" altLang="ja-JP" sz="2400"/>
          </a:p>
          <a:p>
            <a:pPr marL="0" indent="0">
              <a:buNone/>
            </a:pPr>
            <a:r>
              <a:rPr lang="en-US" altLang="ja-JP" sz="2400"/>
              <a:t>@gmai.com</a:t>
            </a:r>
            <a:r>
              <a:rPr lang="ja-JP" altLang="en-US" sz="2400"/>
              <a:t>（</a:t>
            </a:r>
            <a:r>
              <a:rPr lang="en-US" altLang="ja-JP" sz="2400"/>
              <a:t>l</a:t>
            </a:r>
            <a:r>
              <a:rPr lang="ja-JP" altLang="en-US" sz="2400"/>
              <a:t>抜け）</a:t>
            </a:r>
            <a:endParaRPr kumimoji="1" lang="en-US" altLang="ja-JP" sz="2400"/>
          </a:p>
        </p:txBody>
      </p:sp>
      <p:pic>
        <p:nvPicPr>
          <p:cNvPr id="10" name="図 9">
            <a:extLst>
              <a:ext uri="{FF2B5EF4-FFF2-40B4-BE49-F238E27FC236}">
                <a16:creationId xmlns:a16="http://schemas.microsoft.com/office/drawing/2014/main" id="{AC1A58C0-0F2D-6A7E-439B-E613E12D670F}"/>
              </a:ext>
            </a:extLst>
          </p:cNvPr>
          <p:cNvPicPr>
            <a:picLocks noChangeAspect="1"/>
          </p:cNvPicPr>
          <p:nvPr/>
        </p:nvPicPr>
        <p:blipFill>
          <a:blip r:embed="rId2"/>
          <a:stretch>
            <a:fillRect/>
          </a:stretch>
        </p:blipFill>
        <p:spPr>
          <a:xfrm>
            <a:off x="5597056" y="1665996"/>
            <a:ext cx="4561469" cy="4670595"/>
          </a:xfrm>
          <a:prstGeom prst="rect">
            <a:avLst/>
          </a:prstGeom>
        </p:spPr>
      </p:pic>
    </p:spTree>
    <p:extLst>
      <p:ext uri="{BB962C8B-B14F-4D97-AF65-F5344CB8AC3E}">
        <p14:creationId xmlns:p14="http://schemas.microsoft.com/office/powerpoint/2010/main" val="4085300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57F87-5182-99B3-1944-9ABD1D9C795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3E1B05A-9897-740A-41F0-E63027D67321}"/>
              </a:ext>
            </a:extLst>
          </p:cNvPr>
          <p:cNvSpPr>
            <a:spLocks noGrp="1"/>
          </p:cNvSpPr>
          <p:nvPr>
            <p:ph type="title"/>
          </p:nvPr>
        </p:nvSpPr>
        <p:spPr/>
        <p:txBody>
          <a:bodyPr/>
          <a:lstStyle/>
          <a:p>
            <a:r>
              <a:rPr kumimoji="1" lang="ja-JP" altLang="en-US"/>
              <a:t>研究</a:t>
            </a:r>
            <a:r>
              <a:rPr lang="ja-JP" altLang="en-US"/>
              <a:t>目的</a:t>
            </a:r>
            <a:endParaRPr kumimoji="1" lang="ja-JP" altLang="en-US"/>
          </a:p>
        </p:txBody>
      </p:sp>
      <p:sp>
        <p:nvSpPr>
          <p:cNvPr id="3" name="コンテンツ プレースホルダー 2">
            <a:extLst>
              <a:ext uri="{FF2B5EF4-FFF2-40B4-BE49-F238E27FC236}">
                <a16:creationId xmlns:a16="http://schemas.microsoft.com/office/drawing/2014/main" id="{8A4ABB70-F304-4592-6386-E6CAE628BFE1}"/>
              </a:ext>
            </a:extLst>
          </p:cNvPr>
          <p:cNvSpPr>
            <a:spLocks noGrp="1"/>
          </p:cNvSpPr>
          <p:nvPr>
            <p:ph sz="half" idx="1"/>
          </p:nvPr>
        </p:nvSpPr>
        <p:spPr>
          <a:xfrm>
            <a:off x="838200" y="1825625"/>
            <a:ext cx="10515600" cy="4351338"/>
          </a:xfrm>
        </p:spPr>
        <p:txBody>
          <a:bodyPr>
            <a:normAutofit/>
          </a:bodyPr>
          <a:lstStyle/>
          <a:p>
            <a:r>
              <a:rPr lang="ja-JP" altLang="en-US" sz="2800">
                <a:solidFill>
                  <a:srgbClr val="111111"/>
                </a:solidFill>
                <a:latin typeface="Roboto" panose="02000000000000000000" pitchFamily="2" charset="0"/>
              </a:rPr>
              <a:t>ドメインの防御的登録</a:t>
            </a:r>
            <a:endParaRPr kumimoji="1" lang="en-US" altLang="ja-JP" sz="2800"/>
          </a:p>
        </p:txBody>
      </p:sp>
      <p:cxnSp>
        <p:nvCxnSpPr>
          <p:cNvPr id="14" name="コネクタ: 曲線 13">
            <a:extLst>
              <a:ext uri="{FF2B5EF4-FFF2-40B4-BE49-F238E27FC236}">
                <a16:creationId xmlns:a16="http://schemas.microsoft.com/office/drawing/2014/main" id="{819B3D22-CFC0-5344-1F4B-5C48D46C2A8B}"/>
              </a:ext>
            </a:extLst>
          </p:cNvPr>
          <p:cNvCxnSpPr>
            <a:cxnSpLocks/>
            <a:stCxn id="16" idx="1"/>
          </p:cNvCxnSpPr>
          <p:nvPr/>
        </p:nvCxnSpPr>
        <p:spPr>
          <a:xfrm rot="10800000" flipH="1" flipV="1">
            <a:off x="3099647" y="3214971"/>
            <a:ext cx="95482" cy="1706485"/>
          </a:xfrm>
          <a:prstGeom prst="curvedConnector3">
            <a:avLst>
              <a:gd name="adj1" fmla="val -239417"/>
            </a:avLst>
          </a:prstGeom>
          <a:ln>
            <a:tailEnd type="triangle"/>
          </a:ln>
        </p:spPr>
        <p:style>
          <a:lnRef idx="3">
            <a:schemeClr val="dk1"/>
          </a:lnRef>
          <a:fillRef idx="0">
            <a:schemeClr val="dk1"/>
          </a:fillRef>
          <a:effectRef idx="2">
            <a:schemeClr val="dk1"/>
          </a:effectRef>
          <a:fontRef idx="minor">
            <a:schemeClr val="tx1"/>
          </a:fontRef>
        </p:style>
      </p:cxnSp>
      <p:pic>
        <p:nvPicPr>
          <p:cNvPr id="13" name="図 12" descr="障子, 建物, 挿絵, ウィンドウ が含まれている画像&#10;&#10;AI によって生成されたコンテンツは間違っている可能性があります。">
            <a:extLst>
              <a:ext uri="{FF2B5EF4-FFF2-40B4-BE49-F238E27FC236}">
                <a16:creationId xmlns:a16="http://schemas.microsoft.com/office/drawing/2014/main" id="{AEE5FC04-2B09-6EDB-B334-B30A992829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9465" y="3009051"/>
            <a:ext cx="1740027" cy="940176"/>
          </a:xfrm>
          <a:prstGeom prst="rect">
            <a:avLst/>
          </a:prstGeom>
        </p:spPr>
      </p:pic>
      <p:pic>
        <p:nvPicPr>
          <p:cNvPr id="16" name="図 15" descr="アイコン が含まれている画像&#10;&#10;AI によって生成されたコンテンツは間違っている可能性があります。">
            <a:extLst>
              <a:ext uri="{FF2B5EF4-FFF2-40B4-BE49-F238E27FC236}">
                <a16:creationId xmlns:a16="http://schemas.microsoft.com/office/drawing/2014/main" id="{1E85FAA6-AAF1-C15B-55B1-763F5E969C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99647" y="2826982"/>
            <a:ext cx="1586230" cy="775980"/>
          </a:xfrm>
          <a:prstGeom prst="rect">
            <a:avLst/>
          </a:prstGeom>
        </p:spPr>
      </p:pic>
      <p:pic>
        <p:nvPicPr>
          <p:cNvPr id="18" name="図 17" descr="アイコン&#10;&#10;AI によって生成されたコンテンツは間違っている可能性があります。">
            <a:extLst>
              <a:ext uri="{FF2B5EF4-FFF2-40B4-BE49-F238E27FC236}">
                <a16:creationId xmlns:a16="http://schemas.microsoft.com/office/drawing/2014/main" id="{A0B4ACE3-B06A-394F-C5D1-3BAB32C71D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19478" y="3148153"/>
            <a:ext cx="1470747" cy="1268289"/>
          </a:xfrm>
          <a:prstGeom prst="rect">
            <a:avLst/>
          </a:prstGeom>
        </p:spPr>
      </p:pic>
      <p:cxnSp>
        <p:nvCxnSpPr>
          <p:cNvPr id="26" name="コネクタ: 曲線 25">
            <a:extLst>
              <a:ext uri="{FF2B5EF4-FFF2-40B4-BE49-F238E27FC236}">
                <a16:creationId xmlns:a16="http://schemas.microsoft.com/office/drawing/2014/main" id="{C637A7AE-88F1-1D51-3DE6-AD6B1083F44B}"/>
              </a:ext>
            </a:extLst>
          </p:cNvPr>
          <p:cNvCxnSpPr>
            <a:cxnSpLocks/>
          </p:cNvCxnSpPr>
          <p:nvPr/>
        </p:nvCxnSpPr>
        <p:spPr>
          <a:xfrm rot="10800000" flipV="1">
            <a:off x="4843428" y="4279373"/>
            <a:ext cx="2629207" cy="642083"/>
          </a:xfrm>
          <a:prstGeom prst="curvedConnector3">
            <a:avLst/>
          </a:prstGeom>
          <a:ln>
            <a:tailEnd type="triangle"/>
          </a:ln>
        </p:spPr>
        <p:style>
          <a:lnRef idx="3">
            <a:schemeClr val="dk1"/>
          </a:lnRef>
          <a:fillRef idx="0">
            <a:schemeClr val="dk1"/>
          </a:fillRef>
          <a:effectRef idx="2">
            <a:schemeClr val="dk1"/>
          </a:effectRef>
          <a:fontRef idx="minor">
            <a:schemeClr val="tx1"/>
          </a:fontRef>
        </p:style>
      </p:cxnSp>
      <p:sp>
        <p:nvSpPr>
          <p:cNvPr id="38" name="楕円 37">
            <a:extLst>
              <a:ext uri="{FF2B5EF4-FFF2-40B4-BE49-F238E27FC236}">
                <a16:creationId xmlns:a16="http://schemas.microsoft.com/office/drawing/2014/main" id="{2AD70D1A-8651-20AF-1BAD-CE53CB044B37}"/>
              </a:ext>
            </a:extLst>
          </p:cNvPr>
          <p:cNvSpPr/>
          <p:nvPr/>
        </p:nvSpPr>
        <p:spPr>
          <a:xfrm>
            <a:off x="2880943" y="2625690"/>
            <a:ext cx="2064776" cy="498987"/>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altLang="ja-JP"/>
              <a:t>@gmail.com</a:t>
            </a:r>
            <a:endParaRPr kumimoji="1" lang="ja-JP" altLang="en-US"/>
          </a:p>
        </p:txBody>
      </p:sp>
      <p:sp>
        <p:nvSpPr>
          <p:cNvPr id="29" name="四角形: 角を丸くする 28">
            <a:extLst>
              <a:ext uri="{FF2B5EF4-FFF2-40B4-BE49-F238E27FC236}">
                <a16:creationId xmlns:a16="http://schemas.microsoft.com/office/drawing/2014/main" id="{5E68EF02-E0A3-68BA-2A80-23A2CC32B16E}"/>
              </a:ext>
            </a:extLst>
          </p:cNvPr>
          <p:cNvSpPr/>
          <p:nvPr/>
        </p:nvSpPr>
        <p:spPr>
          <a:xfrm>
            <a:off x="7226710" y="4636409"/>
            <a:ext cx="1648298" cy="1135127"/>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r>
              <a:rPr lang="en-US" altLang="ja-JP" sz="1400">
                <a:solidFill>
                  <a:schemeClr val="bg1"/>
                </a:solidFill>
              </a:rPr>
              <a:t> @ gmai.com</a:t>
            </a:r>
            <a:endParaRPr kumimoji="1" lang="en-US" altLang="ja-JP" sz="1400">
              <a:solidFill>
                <a:schemeClr val="bg1"/>
              </a:solidFill>
            </a:endParaRPr>
          </a:p>
          <a:p>
            <a:endParaRPr lang="en-US" altLang="ja-JP" sz="1400">
              <a:solidFill>
                <a:schemeClr val="bg1"/>
              </a:solidFill>
            </a:endParaRPr>
          </a:p>
          <a:p>
            <a:r>
              <a:rPr lang="ja-JP" altLang="en-US" sz="1400">
                <a:solidFill>
                  <a:schemeClr val="bg1"/>
                </a:solidFill>
              </a:rPr>
              <a:t>・</a:t>
            </a:r>
            <a:r>
              <a:rPr kumimoji="1" lang="ja-JP" altLang="en-US" sz="1400">
                <a:solidFill>
                  <a:schemeClr val="bg1"/>
                </a:solidFill>
              </a:rPr>
              <a:t>ユーザー名</a:t>
            </a:r>
            <a:endParaRPr kumimoji="1" lang="en-US" altLang="ja-JP" sz="1400">
              <a:solidFill>
                <a:schemeClr val="bg1"/>
              </a:solidFill>
            </a:endParaRPr>
          </a:p>
          <a:p>
            <a:r>
              <a:rPr lang="ja-JP" altLang="en-US" sz="1400">
                <a:solidFill>
                  <a:schemeClr val="bg1"/>
                </a:solidFill>
              </a:rPr>
              <a:t>・パスワード</a:t>
            </a:r>
            <a:endParaRPr kumimoji="1" lang="ja-JP" altLang="en-US" sz="1400">
              <a:solidFill>
                <a:schemeClr val="bg1"/>
              </a:solidFill>
            </a:endParaRPr>
          </a:p>
        </p:txBody>
      </p:sp>
      <p:pic>
        <p:nvPicPr>
          <p:cNvPr id="43" name="図 42" descr="図形&#10;&#10;AI によって生成されたコンテンツは間違っている可能性があります。">
            <a:extLst>
              <a:ext uri="{FF2B5EF4-FFF2-40B4-BE49-F238E27FC236}">
                <a16:creationId xmlns:a16="http://schemas.microsoft.com/office/drawing/2014/main" id="{90321ACC-74F6-75A4-C2E4-5DFB154F47F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56152" y="4307438"/>
            <a:ext cx="841520" cy="534877"/>
          </a:xfrm>
          <a:prstGeom prst="rect">
            <a:avLst/>
          </a:prstGeom>
        </p:spPr>
      </p:pic>
      <p:sp>
        <p:nvSpPr>
          <p:cNvPr id="4" name="楕円 3">
            <a:extLst>
              <a:ext uri="{FF2B5EF4-FFF2-40B4-BE49-F238E27FC236}">
                <a16:creationId xmlns:a16="http://schemas.microsoft.com/office/drawing/2014/main" id="{BDE0BA01-F241-D4C5-656D-FBA792A6A6D5}"/>
              </a:ext>
            </a:extLst>
          </p:cNvPr>
          <p:cNvSpPr/>
          <p:nvPr/>
        </p:nvSpPr>
        <p:spPr>
          <a:xfrm>
            <a:off x="2937905" y="4784620"/>
            <a:ext cx="2064776" cy="956570"/>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altLang="ja-JP"/>
              <a:t>@gmai.com</a:t>
            </a:r>
          </a:p>
          <a:p>
            <a:pPr algn="ctr"/>
            <a:r>
              <a:rPr lang="en-US" altLang="ja-JP"/>
              <a:t>@gmail.co</a:t>
            </a:r>
            <a:endParaRPr kumimoji="1" lang="ja-JP" altLang="en-US"/>
          </a:p>
        </p:txBody>
      </p:sp>
      <p:pic>
        <p:nvPicPr>
          <p:cNvPr id="6" name="図 5" descr="テキスト&#10;&#10;AI によって生成されたコンテンツは間違っている可能性があります。">
            <a:extLst>
              <a:ext uri="{FF2B5EF4-FFF2-40B4-BE49-F238E27FC236}">
                <a16:creationId xmlns:a16="http://schemas.microsoft.com/office/drawing/2014/main" id="{A75E1AD7-2EE5-5195-65BD-04F8FE25C70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10088" y="3666007"/>
            <a:ext cx="856694" cy="852278"/>
          </a:xfrm>
          <a:prstGeom prst="rect">
            <a:avLst/>
          </a:prstGeom>
        </p:spPr>
      </p:pic>
      <p:cxnSp>
        <p:nvCxnSpPr>
          <p:cNvPr id="9" name="コネクタ: 曲線 8">
            <a:extLst>
              <a:ext uri="{FF2B5EF4-FFF2-40B4-BE49-F238E27FC236}">
                <a16:creationId xmlns:a16="http://schemas.microsoft.com/office/drawing/2014/main" id="{16FF3393-6DC7-D8A6-69F2-64E4A065D7E4}"/>
              </a:ext>
            </a:extLst>
          </p:cNvPr>
          <p:cNvCxnSpPr>
            <a:stCxn id="13" idx="1"/>
            <a:endCxn id="16" idx="3"/>
          </p:cNvCxnSpPr>
          <p:nvPr/>
        </p:nvCxnSpPr>
        <p:spPr>
          <a:xfrm rot="10800000">
            <a:off x="4685877" y="3214973"/>
            <a:ext cx="1963588" cy="264167"/>
          </a:xfrm>
          <a:prstGeom prst="curvedConnector3">
            <a:avLst/>
          </a:prstGeom>
          <a:ln>
            <a:tailEnd type="triangle"/>
          </a:ln>
        </p:spPr>
        <p:style>
          <a:lnRef idx="3">
            <a:schemeClr val="dk1"/>
          </a:lnRef>
          <a:fillRef idx="0">
            <a:schemeClr val="dk1"/>
          </a:fillRef>
          <a:effectRef idx="2">
            <a:schemeClr val="dk1"/>
          </a:effectRef>
          <a:fontRef idx="minor">
            <a:schemeClr val="tx1"/>
          </a:fontRef>
        </p:style>
      </p:cxnSp>
      <p:pic>
        <p:nvPicPr>
          <p:cNvPr id="42" name="図 41" descr="図形&#10;&#10;AI によって生成されたコンテンツは間違っている可能性があります。">
            <a:extLst>
              <a:ext uri="{FF2B5EF4-FFF2-40B4-BE49-F238E27FC236}">
                <a16:creationId xmlns:a16="http://schemas.microsoft.com/office/drawing/2014/main" id="{71BAE10F-2B53-562A-A3A3-74DD4135B3E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90951" y="3029287"/>
            <a:ext cx="841520" cy="534877"/>
          </a:xfrm>
          <a:prstGeom prst="rect">
            <a:avLst/>
          </a:prstGeom>
        </p:spPr>
      </p:pic>
    </p:spTree>
    <p:extLst>
      <p:ext uri="{BB962C8B-B14F-4D97-AF65-F5344CB8AC3E}">
        <p14:creationId xmlns:p14="http://schemas.microsoft.com/office/powerpoint/2010/main" val="4022153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5DB99-CD86-26D9-7471-92402617E40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63C0A54-3F18-AEAA-2286-35709F9FA604}"/>
              </a:ext>
            </a:extLst>
          </p:cNvPr>
          <p:cNvSpPr>
            <a:spLocks noGrp="1"/>
          </p:cNvSpPr>
          <p:nvPr>
            <p:ph type="title"/>
          </p:nvPr>
        </p:nvSpPr>
        <p:spPr/>
        <p:txBody>
          <a:bodyPr/>
          <a:lstStyle/>
          <a:p>
            <a:r>
              <a:rPr kumimoji="1" lang="ja-JP" altLang="en-US"/>
              <a:t>研究方法・流れ</a:t>
            </a:r>
          </a:p>
        </p:txBody>
      </p:sp>
      <p:sp>
        <p:nvSpPr>
          <p:cNvPr id="3" name="コンテンツ プレースホルダー 2">
            <a:extLst>
              <a:ext uri="{FF2B5EF4-FFF2-40B4-BE49-F238E27FC236}">
                <a16:creationId xmlns:a16="http://schemas.microsoft.com/office/drawing/2014/main" id="{4EF53289-70DA-B805-9416-2F63ED2FA59C}"/>
              </a:ext>
            </a:extLst>
          </p:cNvPr>
          <p:cNvSpPr>
            <a:spLocks noGrp="1"/>
          </p:cNvSpPr>
          <p:nvPr>
            <p:ph sz="half" idx="1"/>
          </p:nvPr>
        </p:nvSpPr>
        <p:spPr>
          <a:xfrm>
            <a:off x="838199" y="1825625"/>
            <a:ext cx="9800303" cy="4351338"/>
          </a:xfrm>
        </p:spPr>
        <p:txBody>
          <a:bodyPr>
            <a:normAutofit/>
          </a:bodyPr>
          <a:lstStyle/>
          <a:p>
            <a:pPr marL="0" indent="0">
              <a:lnSpc>
                <a:spcPct val="150000"/>
              </a:lnSpc>
              <a:buNone/>
            </a:pPr>
            <a:r>
              <a:rPr kumimoji="1" lang="ja-JP" altLang="en-US" sz="2800"/>
              <a:t>１．タイプミスされたドメインのデータを収集する</a:t>
            </a:r>
            <a:endParaRPr kumimoji="1" lang="en-US" altLang="ja-JP" sz="2800"/>
          </a:p>
          <a:p>
            <a:pPr marL="0" indent="0">
              <a:lnSpc>
                <a:spcPct val="150000"/>
              </a:lnSpc>
              <a:buNone/>
            </a:pPr>
            <a:r>
              <a:rPr kumimoji="1" lang="ja-JP" altLang="en-US" sz="2800"/>
              <a:t>２．データからタイプミスを抽出し、原因を分析</a:t>
            </a:r>
            <a:r>
              <a:rPr kumimoji="1" lang="ja-JP" altLang="en-US" sz="2800">
                <a:solidFill>
                  <a:srgbClr val="FF0000"/>
                </a:solidFill>
              </a:rPr>
              <a:t>（現在）</a:t>
            </a:r>
            <a:endParaRPr kumimoji="1" lang="en-US" altLang="ja-JP" sz="2800">
              <a:solidFill>
                <a:srgbClr val="FF0000"/>
              </a:solidFill>
            </a:endParaRPr>
          </a:p>
          <a:p>
            <a:pPr marL="0" indent="0">
              <a:lnSpc>
                <a:spcPct val="150000"/>
              </a:lnSpc>
              <a:buNone/>
            </a:pPr>
            <a:r>
              <a:rPr kumimoji="1" lang="ja-JP" altLang="en-US" sz="2800"/>
              <a:t>３．タイプミスの傾向に基づいた防御的ドメイン登録を提案</a:t>
            </a:r>
            <a:endParaRPr kumimoji="1" lang="en-US" altLang="ja-JP" sz="2800"/>
          </a:p>
        </p:txBody>
      </p:sp>
    </p:spTree>
    <p:extLst>
      <p:ext uri="{BB962C8B-B14F-4D97-AF65-F5344CB8AC3E}">
        <p14:creationId xmlns:p14="http://schemas.microsoft.com/office/powerpoint/2010/main" val="99988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DA23B-B5A9-1DA4-6BC6-A182851F596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C7B0FCE-543F-D76E-63E2-0F27555D116E}"/>
              </a:ext>
            </a:extLst>
          </p:cNvPr>
          <p:cNvSpPr>
            <a:spLocks noGrp="1"/>
          </p:cNvSpPr>
          <p:nvPr>
            <p:ph type="title"/>
          </p:nvPr>
        </p:nvSpPr>
        <p:spPr/>
        <p:txBody>
          <a:bodyPr/>
          <a:lstStyle/>
          <a:p>
            <a:r>
              <a:rPr kumimoji="1" lang="ja-JP" altLang="en-US"/>
              <a:t>今後の研究方針・方向性</a:t>
            </a:r>
          </a:p>
        </p:txBody>
      </p:sp>
      <p:sp>
        <p:nvSpPr>
          <p:cNvPr id="3" name="コンテンツ プレースホルダー 2">
            <a:extLst>
              <a:ext uri="{FF2B5EF4-FFF2-40B4-BE49-F238E27FC236}">
                <a16:creationId xmlns:a16="http://schemas.microsoft.com/office/drawing/2014/main" id="{4D88C6BF-7E2A-FE4F-90DB-015EBADA4BB5}"/>
              </a:ext>
            </a:extLst>
          </p:cNvPr>
          <p:cNvSpPr>
            <a:spLocks noGrp="1"/>
          </p:cNvSpPr>
          <p:nvPr>
            <p:ph sz="half" idx="1"/>
          </p:nvPr>
        </p:nvSpPr>
        <p:spPr>
          <a:xfrm>
            <a:off x="838200" y="1825624"/>
            <a:ext cx="10515600" cy="4788535"/>
          </a:xfrm>
        </p:spPr>
        <p:txBody>
          <a:bodyPr>
            <a:normAutofit/>
          </a:bodyPr>
          <a:lstStyle/>
          <a:p>
            <a:pPr marL="0" indent="0">
              <a:buNone/>
            </a:pPr>
            <a:r>
              <a:rPr lang="ja-JP" altLang="en-US" sz="3600"/>
              <a:t>１．タイポの原因出力できるようにする</a:t>
            </a:r>
            <a:endParaRPr lang="en-US" altLang="ja-JP" sz="3600"/>
          </a:p>
          <a:p>
            <a:pPr marL="0" indent="0">
              <a:buNone/>
            </a:pPr>
            <a:r>
              <a:rPr lang="ja-JP" altLang="en-US" sz="2800"/>
              <a:t>・タイポの原因をカテゴライズする</a:t>
            </a:r>
            <a:endParaRPr lang="en-US" altLang="ja-JP" sz="2800"/>
          </a:p>
          <a:p>
            <a:pPr marL="0" indent="0">
              <a:buNone/>
            </a:pPr>
            <a:r>
              <a:rPr lang="ja-JP" altLang="en-US" sz="2400"/>
              <a:t>（→分類を考えるために先行研究を探す）</a:t>
            </a:r>
            <a:endParaRPr lang="en-US" altLang="ja-JP" sz="2400"/>
          </a:p>
          <a:p>
            <a:pPr marL="0" indent="0">
              <a:buNone/>
            </a:pPr>
            <a:r>
              <a:rPr lang="ja-JP" altLang="en-US" sz="2800"/>
              <a:t>・出力できた原因をどのように使うか</a:t>
            </a:r>
          </a:p>
          <a:p>
            <a:pPr marL="0" indent="0">
              <a:buNone/>
            </a:pPr>
            <a:endParaRPr kumimoji="1" lang="en-US" altLang="ja-JP" sz="3600"/>
          </a:p>
          <a:p>
            <a:pPr marL="0" indent="0">
              <a:buNone/>
            </a:pPr>
            <a:r>
              <a:rPr lang="ja-JP" altLang="en-US" sz="3600"/>
              <a:t>２．防御的登録を優先的にしてもらうドメインリストを表示できるサイトを作成</a:t>
            </a:r>
            <a:endParaRPr lang="en-US" altLang="ja-JP" sz="3600"/>
          </a:p>
          <a:p>
            <a:pPr marL="0" indent="0">
              <a:buNone/>
            </a:pPr>
            <a:r>
              <a:rPr kumimoji="1" lang="ja-JP" altLang="en-US" sz="2800"/>
              <a:t>・セキュリティ面での対策も考える（所有者のみが閲覧可能）</a:t>
            </a:r>
            <a:endParaRPr kumimoji="1" lang="en-US" altLang="ja-JP" sz="2800"/>
          </a:p>
        </p:txBody>
      </p:sp>
    </p:spTree>
    <p:extLst>
      <p:ext uri="{BB962C8B-B14F-4D97-AF65-F5344CB8AC3E}">
        <p14:creationId xmlns:p14="http://schemas.microsoft.com/office/powerpoint/2010/main" val="1000564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3F43B-AC85-1D67-D077-E2B1AA373EC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7F90DD0-04F6-374D-FD62-C4ECDA8A2348}"/>
              </a:ext>
            </a:extLst>
          </p:cNvPr>
          <p:cNvSpPr>
            <a:spLocks noGrp="1"/>
          </p:cNvSpPr>
          <p:nvPr>
            <p:ph type="title"/>
          </p:nvPr>
        </p:nvSpPr>
        <p:spPr/>
        <p:txBody>
          <a:bodyPr/>
          <a:lstStyle/>
          <a:p>
            <a:r>
              <a:rPr kumimoji="1" lang="ja-JP" altLang="en-US"/>
              <a:t>今後の研究方針・方向性</a:t>
            </a:r>
          </a:p>
        </p:txBody>
      </p:sp>
      <p:sp>
        <p:nvSpPr>
          <p:cNvPr id="3" name="コンテンツ プレースホルダー 2">
            <a:extLst>
              <a:ext uri="{FF2B5EF4-FFF2-40B4-BE49-F238E27FC236}">
                <a16:creationId xmlns:a16="http://schemas.microsoft.com/office/drawing/2014/main" id="{5D58467C-26D8-599D-4608-071CB7BD9EBB}"/>
              </a:ext>
            </a:extLst>
          </p:cNvPr>
          <p:cNvSpPr>
            <a:spLocks noGrp="1"/>
          </p:cNvSpPr>
          <p:nvPr>
            <p:ph sz="half" idx="1"/>
          </p:nvPr>
        </p:nvSpPr>
        <p:spPr>
          <a:xfrm>
            <a:off x="838200" y="1825625"/>
            <a:ext cx="10515600" cy="4351338"/>
          </a:xfrm>
        </p:spPr>
        <p:txBody>
          <a:bodyPr>
            <a:normAutofit/>
          </a:bodyPr>
          <a:lstStyle/>
          <a:p>
            <a:pPr marL="0" indent="0">
              <a:buNone/>
            </a:pPr>
            <a:r>
              <a:rPr lang="ja-JP" altLang="en-US" sz="3600"/>
              <a:t>１．タイポの原因出力できるようにする</a:t>
            </a:r>
            <a:endParaRPr lang="en-US" altLang="ja-JP" sz="3600"/>
          </a:p>
          <a:p>
            <a:pPr marL="0" indent="0">
              <a:buNone/>
            </a:pPr>
            <a:r>
              <a:rPr lang="ja-JP" altLang="en-US" sz="2800"/>
              <a:t>・タイポの原因をカテゴライズする</a:t>
            </a:r>
            <a:endParaRPr lang="en-US" altLang="ja-JP" sz="2800"/>
          </a:p>
          <a:p>
            <a:pPr marL="0" indent="0">
              <a:buNone/>
            </a:pPr>
            <a:endParaRPr kumimoji="1" lang="en-US" altLang="ja-JP" sz="2800"/>
          </a:p>
        </p:txBody>
      </p:sp>
      <p:pic>
        <p:nvPicPr>
          <p:cNvPr id="5" name="図 4">
            <a:extLst>
              <a:ext uri="{FF2B5EF4-FFF2-40B4-BE49-F238E27FC236}">
                <a16:creationId xmlns:a16="http://schemas.microsoft.com/office/drawing/2014/main" id="{FBE17561-B5E1-FD54-4650-1CA281700030}"/>
              </a:ext>
            </a:extLst>
          </p:cNvPr>
          <p:cNvPicPr>
            <a:picLocks noChangeAspect="1"/>
          </p:cNvPicPr>
          <p:nvPr/>
        </p:nvPicPr>
        <p:blipFill>
          <a:blip r:embed="rId2"/>
          <a:stretch>
            <a:fillRect/>
          </a:stretch>
        </p:blipFill>
        <p:spPr>
          <a:xfrm>
            <a:off x="838200" y="3171652"/>
            <a:ext cx="10280543" cy="2297148"/>
          </a:xfrm>
          <a:prstGeom prst="rect">
            <a:avLst/>
          </a:prstGeom>
        </p:spPr>
      </p:pic>
    </p:spTree>
    <p:extLst>
      <p:ext uri="{BB962C8B-B14F-4D97-AF65-F5344CB8AC3E}">
        <p14:creationId xmlns:p14="http://schemas.microsoft.com/office/powerpoint/2010/main" val="23849640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E0A20-32D2-864C-7ACD-E90067ADD02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2FAD306-DE1E-0FF0-8FDE-27C06E513C3C}"/>
              </a:ext>
            </a:extLst>
          </p:cNvPr>
          <p:cNvSpPr>
            <a:spLocks noGrp="1"/>
          </p:cNvSpPr>
          <p:nvPr>
            <p:ph type="title"/>
          </p:nvPr>
        </p:nvSpPr>
        <p:spPr/>
        <p:txBody>
          <a:bodyPr/>
          <a:lstStyle/>
          <a:p>
            <a:r>
              <a:rPr kumimoji="1" lang="ja-JP" altLang="en-US"/>
              <a:t>今後の研究方針・方向性</a:t>
            </a:r>
          </a:p>
        </p:txBody>
      </p:sp>
      <p:sp>
        <p:nvSpPr>
          <p:cNvPr id="3" name="コンテンツ プレースホルダー 2">
            <a:extLst>
              <a:ext uri="{FF2B5EF4-FFF2-40B4-BE49-F238E27FC236}">
                <a16:creationId xmlns:a16="http://schemas.microsoft.com/office/drawing/2014/main" id="{48BEF2DF-61DF-BEEA-CAC9-DF4A47CC260A}"/>
              </a:ext>
            </a:extLst>
          </p:cNvPr>
          <p:cNvSpPr>
            <a:spLocks noGrp="1"/>
          </p:cNvSpPr>
          <p:nvPr>
            <p:ph sz="half" idx="1"/>
          </p:nvPr>
        </p:nvSpPr>
        <p:spPr>
          <a:xfrm>
            <a:off x="838200" y="1825625"/>
            <a:ext cx="10515600" cy="4351338"/>
          </a:xfrm>
        </p:spPr>
        <p:txBody>
          <a:bodyPr>
            <a:normAutofit/>
          </a:bodyPr>
          <a:lstStyle/>
          <a:p>
            <a:pPr marL="0" indent="0">
              <a:buNone/>
            </a:pPr>
            <a:r>
              <a:rPr lang="ja-JP" altLang="en-US" sz="3600"/>
              <a:t>１．タイポの原因出力できるようにする</a:t>
            </a:r>
            <a:endParaRPr lang="en-US" altLang="ja-JP" sz="3600"/>
          </a:p>
          <a:p>
            <a:pPr marL="0" indent="0">
              <a:buNone/>
            </a:pPr>
            <a:r>
              <a:rPr lang="ja-JP" altLang="en-US" sz="2800"/>
              <a:t>・タイポの原因をカテゴライズする</a:t>
            </a:r>
            <a:endParaRPr lang="en-US" altLang="ja-JP" sz="2800"/>
          </a:p>
          <a:p>
            <a:pPr marL="0" indent="0">
              <a:buNone/>
            </a:pPr>
            <a:r>
              <a:rPr lang="ja-JP" altLang="en-US" sz="2800"/>
              <a:t>→分類をどうするか</a:t>
            </a:r>
            <a:r>
              <a:rPr lang="ja-JP" altLang="en-US" sz="2800">
                <a:solidFill>
                  <a:srgbClr val="FF0000"/>
                </a:solidFill>
              </a:rPr>
              <a:t>（現在）</a:t>
            </a:r>
            <a:endParaRPr lang="en-US" altLang="ja-JP" sz="2800">
              <a:solidFill>
                <a:srgbClr val="FF0000"/>
              </a:solidFill>
            </a:endParaRPr>
          </a:p>
          <a:p>
            <a:pPr marL="0" indent="0">
              <a:buNone/>
            </a:pPr>
            <a:endParaRPr kumimoji="1" lang="en-US" altLang="ja-JP" sz="2000">
              <a:solidFill>
                <a:schemeClr val="bg1">
                  <a:lumMod val="50000"/>
                </a:schemeClr>
              </a:solidFill>
            </a:endParaRPr>
          </a:p>
          <a:p>
            <a:pPr marL="0" indent="0">
              <a:buNone/>
            </a:pPr>
            <a:r>
              <a:rPr kumimoji="1" lang="en-US" altLang="ja-JP" sz="2000">
                <a:solidFill>
                  <a:schemeClr val="bg1">
                    <a:lumMod val="50000"/>
                  </a:schemeClr>
                </a:solidFill>
              </a:rPr>
              <a:t>1</a:t>
            </a:r>
            <a:r>
              <a:rPr kumimoji="1" lang="ja-JP" altLang="en-US" sz="2000">
                <a:solidFill>
                  <a:schemeClr val="bg1">
                    <a:lumMod val="50000"/>
                  </a:schemeClr>
                </a:solidFill>
              </a:rPr>
              <a:t>位　</a:t>
            </a:r>
            <a:r>
              <a:rPr kumimoji="1" lang="en-US" altLang="ja-JP" sz="2000">
                <a:solidFill>
                  <a:schemeClr val="bg1">
                    <a:lumMod val="50000"/>
                  </a:schemeClr>
                </a:solidFill>
              </a:rPr>
              <a:t>tresurefactory.co.jp</a:t>
            </a:r>
            <a:r>
              <a:rPr kumimoji="1" lang="ja-JP" altLang="en-US" sz="2000">
                <a:solidFill>
                  <a:schemeClr val="bg1">
                    <a:lumMod val="50000"/>
                  </a:schemeClr>
                </a:solidFill>
              </a:rPr>
              <a:t>（スペルミス）</a:t>
            </a:r>
            <a:endParaRPr kumimoji="1" lang="en-US" altLang="ja-JP" sz="2000">
              <a:solidFill>
                <a:schemeClr val="bg1">
                  <a:lumMod val="50000"/>
                </a:schemeClr>
              </a:solidFill>
            </a:endParaRPr>
          </a:p>
          <a:p>
            <a:pPr marL="0" indent="0">
              <a:buNone/>
            </a:pPr>
            <a:r>
              <a:rPr kumimoji="1" lang="en-US" altLang="ja-JP" sz="2000">
                <a:solidFill>
                  <a:schemeClr val="bg1">
                    <a:lumMod val="50000"/>
                  </a:schemeClr>
                </a:solidFill>
              </a:rPr>
              <a:t>2</a:t>
            </a:r>
            <a:r>
              <a:rPr kumimoji="1" lang="ja-JP" altLang="en-US" sz="2000">
                <a:solidFill>
                  <a:schemeClr val="bg1">
                    <a:lumMod val="50000"/>
                  </a:schemeClr>
                </a:solidFill>
              </a:rPr>
              <a:t>位　</a:t>
            </a:r>
            <a:r>
              <a:rPr kumimoji="1" lang="en-US" altLang="ja-JP" sz="2000">
                <a:solidFill>
                  <a:schemeClr val="bg1">
                    <a:lumMod val="50000"/>
                  </a:schemeClr>
                </a:solidFill>
              </a:rPr>
              <a:t>treasurefactry.co.jp</a:t>
            </a:r>
            <a:r>
              <a:rPr kumimoji="1" lang="ja-JP" altLang="en-US" sz="2000">
                <a:solidFill>
                  <a:schemeClr val="bg1">
                    <a:lumMod val="50000"/>
                  </a:schemeClr>
                </a:solidFill>
              </a:rPr>
              <a:t>（スペルミス）</a:t>
            </a:r>
            <a:endParaRPr kumimoji="1" lang="en-US" altLang="ja-JP" sz="2000">
              <a:solidFill>
                <a:schemeClr val="bg1">
                  <a:lumMod val="50000"/>
                </a:schemeClr>
              </a:solidFill>
            </a:endParaRPr>
          </a:p>
          <a:p>
            <a:pPr marL="0" indent="0">
              <a:buNone/>
            </a:pPr>
            <a:r>
              <a:rPr kumimoji="1" lang="en-US" altLang="ja-JP" sz="2000">
                <a:solidFill>
                  <a:schemeClr val="bg1">
                    <a:lumMod val="50000"/>
                  </a:schemeClr>
                </a:solidFill>
              </a:rPr>
              <a:t>3</a:t>
            </a:r>
            <a:r>
              <a:rPr kumimoji="1" lang="ja-JP" altLang="en-US" sz="2000">
                <a:solidFill>
                  <a:schemeClr val="bg1">
                    <a:lumMod val="50000"/>
                  </a:schemeClr>
                </a:solidFill>
              </a:rPr>
              <a:t>位　</a:t>
            </a:r>
            <a:r>
              <a:rPr kumimoji="1" lang="en-US" altLang="ja-JP" sz="2000">
                <a:solidFill>
                  <a:schemeClr val="bg1">
                    <a:lumMod val="50000"/>
                  </a:schemeClr>
                </a:solidFill>
              </a:rPr>
              <a:t>treeasurefactory.co.jp</a:t>
            </a:r>
            <a:r>
              <a:rPr kumimoji="1" lang="ja-JP" altLang="en-US" sz="2000">
                <a:solidFill>
                  <a:schemeClr val="bg1">
                    <a:lumMod val="50000"/>
                  </a:schemeClr>
                </a:solidFill>
              </a:rPr>
              <a:t>（重複文字？）</a:t>
            </a:r>
            <a:endParaRPr kumimoji="1" lang="en-US" altLang="ja-JP" sz="2000">
              <a:solidFill>
                <a:schemeClr val="bg1">
                  <a:lumMod val="50000"/>
                </a:schemeClr>
              </a:solidFill>
            </a:endParaRPr>
          </a:p>
          <a:p>
            <a:pPr marL="0" indent="0">
              <a:buNone/>
            </a:pPr>
            <a:r>
              <a:rPr kumimoji="1" lang="en-US" altLang="ja-JP" sz="2000">
                <a:solidFill>
                  <a:schemeClr val="bg1">
                    <a:lumMod val="50000"/>
                  </a:schemeClr>
                </a:solidFill>
              </a:rPr>
              <a:t>4</a:t>
            </a:r>
            <a:r>
              <a:rPr kumimoji="1" lang="ja-JP" altLang="en-US" sz="2000">
                <a:solidFill>
                  <a:schemeClr val="bg1">
                    <a:lumMod val="50000"/>
                  </a:schemeClr>
                </a:solidFill>
              </a:rPr>
              <a:t>位　</a:t>
            </a:r>
            <a:r>
              <a:rPr kumimoji="1" lang="en-US" altLang="ja-JP" sz="2000">
                <a:solidFill>
                  <a:schemeClr val="bg1">
                    <a:lumMod val="50000"/>
                  </a:schemeClr>
                </a:solidFill>
              </a:rPr>
              <a:t>toresurefactori.co.jp</a:t>
            </a:r>
            <a:r>
              <a:rPr kumimoji="1" lang="ja-JP" altLang="en-US" sz="2000">
                <a:solidFill>
                  <a:schemeClr val="bg1">
                    <a:lumMod val="50000"/>
                  </a:schemeClr>
                </a:solidFill>
              </a:rPr>
              <a:t>（スペルミス）</a:t>
            </a:r>
            <a:endParaRPr kumimoji="1" lang="en-US" altLang="ja-JP" sz="2000">
              <a:solidFill>
                <a:schemeClr val="bg1">
                  <a:lumMod val="50000"/>
                </a:schemeClr>
              </a:solidFill>
            </a:endParaRPr>
          </a:p>
          <a:p>
            <a:pPr marL="0" indent="0">
              <a:buNone/>
            </a:pPr>
            <a:r>
              <a:rPr kumimoji="1" lang="en-US" altLang="ja-JP" sz="2000">
                <a:solidFill>
                  <a:schemeClr val="bg1">
                    <a:lumMod val="50000"/>
                  </a:schemeClr>
                </a:solidFill>
              </a:rPr>
              <a:t>5</a:t>
            </a:r>
            <a:r>
              <a:rPr kumimoji="1" lang="ja-JP" altLang="en-US" sz="2000">
                <a:solidFill>
                  <a:schemeClr val="bg1">
                    <a:lumMod val="50000"/>
                  </a:schemeClr>
                </a:solidFill>
              </a:rPr>
              <a:t>位　</a:t>
            </a:r>
            <a:r>
              <a:rPr kumimoji="1" lang="en-US" altLang="ja-JP" sz="2000" err="1">
                <a:solidFill>
                  <a:schemeClr val="bg1">
                    <a:lumMod val="50000"/>
                  </a:schemeClr>
                </a:solidFill>
              </a:rPr>
              <a:t>treasurefactories.cojp</a:t>
            </a:r>
            <a:r>
              <a:rPr kumimoji="1" lang="ja-JP" altLang="en-US" sz="2000">
                <a:solidFill>
                  <a:schemeClr val="bg1">
                    <a:lumMod val="50000"/>
                  </a:schemeClr>
                </a:solidFill>
              </a:rPr>
              <a:t>（語尾変化・ピリオド打ち忘れ）</a:t>
            </a:r>
            <a:endParaRPr kumimoji="1" lang="en-US" altLang="ja-JP" sz="2000">
              <a:solidFill>
                <a:schemeClr val="bg1">
                  <a:lumMod val="50000"/>
                </a:schemeClr>
              </a:solidFill>
            </a:endParaRPr>
          </a:p>
        </p:txBody>
      </p:sp>
    </p:spTree>
    <p:extLst>
      <p:ext uri="{BB962C8B-B14F-4D97-AF65-F5344CB8AC3E}">
        <p14:creationId xmlns:p14="http://schemas.microsoft.com/office/powerpoint/2010/main" val="2136619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B907C-82FD-07F5-6130-B32A72730B6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91E8E4F-C9BB-9189-E686-4BB0FB070712}"/>
              </a:ext>
            </a:extLst>
          </p:cNvPr>
          <p:cNvSpPr>
            <a:spLocks noGrp="1"/>
          </p:cNvSpPr>
          <p:nvPr>
            <p:ph type="title"/>
          </p:nvPr>
        </p:nvSpPr>
        <p:spPr/>
        <p:txBody>
          <a:bodyPr/>
          <a:lstStyle/>
          <a:p>
            <a:r>
              <a:rPr kumimoji="1" lang="ja-JP" altLang="en-US"/>
              <a:t>今後の研究方針・方向性</a:t>
            </a:r>
          </a:p>
        </p:txBody>
      </p:sp>
      <p:sp>
        <p:nvSpPr>
          <p:cNvPr id="3" name="コンテンツ プレースホルダー 2">
            <a:extLst>
              <a:ext uri="{FF2B5EF4-FFF2-40B4-BE49-F238E27FC236}">
                <a16:creationId xmlns:a16="http://schemas.microsoft.com/office/drawing/2014/main" id="{ECAE95FC-FA0D-78B2-DE8A-30D48811BA7B}"/>
              </a:ext>
            </a:extLst>
          </p:cNvPr>
          <p:cNvSpPr>
            <a:spLocks noGrp="1"/>
          </p:cNvSpPr>
          <p:nvPr>
            <p:ph sz="half" idx="1"/>
          </p:nvPr>
        </p:nvSpPr>
        <p:spPr>
          <a:xfrm>
            <a:off x="838200" y="1825625"/>
            <a:ext cx="10515600" cy="4351338"/>
          </a:xfrm>
        </p:spPr>
        <p:txBody>
          <a:bodyPr>
            <a:normAutofit/>
          </a:bodyPr>
          <a:lstStyle/>
          <a:p>
            <a:pPr marL="0" indent="0">
              <a:buNone/>
            </a:pPr>
            <a:r>
              <a:rPr lang="ja-JP" altLang="en-US" sz="3600"/>
              <a:t>１．タイポの原因出力できるようにする</a:t>
            </a:r>
            <a:endParaRPr lang="en-US" altLang="ja-JP" sz="3600"/>
          </a:p>
          <a:p>
            <a:pPr marL="0" indent="0">
              <a:buNone/>
            </a:pPr>
            <a:r>
              <a:rPr lang="ja-JP" altLang="en-US" sz="2800"/>
              <a:t>・出力できた原因をどのように使うか</a:t>
            </a:r>
          </a:p>
        </p:txBody>
      </p:sp>
      <p:pic>
        <p:nvPicPr>
          <p:cNvPr id="5" name="図 4">
            <a:extLst>
              <a:ext uri="{FF2B5EF4-FFF2-40B4-BE49-F238E27FC236}">
                <a16:creationId xmlns:a16="http://schemas.microsoft.com/office/drawing/2014/main" id="{8D721A4D-182F-472D-63A6-26F6553D002F}"/>
              </a:ext>
            </a:extLst>
          </p:cNvPr>
          <p:cNvPicPr>
            <a:picLocks noChangeAspect="1"/>
          </p:cNvPicPr>
          <p:nvPr/>
        </p:nvPicPr>
        <p:blipFill>
          <a:blip r:embed="rId2"/>
          <a:stretch>
            <a:fillRect/>
          </a:stretch>
        </p:blipFill>
        <p:spPr>
          <a:xfrm>
            <a:off x="2718653" y="2889957"/>
            <a:ext cx="5176650" cy="3268616"/>
          </a:xfrm>
          <a:prstGeom prst="rect">
            <a:avLst/>
          </a:prstGeom>
        </p:spPr>
      </p:pic>
    </p:spTree>
    <p:extLst>
      <p:ext uri="{BB962C8B-B14F-4D97-AF65-F5344CB8AC3E}">
        <p14:creationId xmlns:p14="http://schemas.microsoft.com/office/powerpoint/2010/main" val="3171767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C214E-A8A1-82E5-CB52-71D8925DFC3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05AC6AB-1FC2-24D8-29FD-413728E2BF2A}"/>
              </a:ext>
            </a:extLst>
          </p:cNvPr>
          <p:cNvSpPr>
            <a:spLocks noGrp="1"/>
          </p:cNvSpPr>
          <p:nvPr>
            <p:ph type="title"/>
          </p:nvPr>
        </p:nvSpPr>
        <p:spPr/>
        <p:txBody>
          <a:bodyPr/>
          <a:lstStyle/>
          <a:p>
            <a:r>
              <a:rPr kumimoji="1" lang="ja-JP" altLang="en-US" dirty="0"/>
              <a:t>今後の研究方針・方向性</a:t>
            </a:r>
          </a:p>
        </p:txBody>
      </p:sp>
      <p:sp>
        <p:nvSpPr>
          <p:cNvPr id="3" name="コンテンツ プレースホルダー 2">
            <a:extLst>
              <a:ext uri="{FF2B5EF4-FFF2-40B4-BE49-F238E27FC236}">
                <a16:creationId xmlns:a16="http://schemas.microsoft.com/office/drawing/2014/main" id="{A6A1148B-9C88-C58D-6A45-6B7F043750B6}"/>
              </a:ext>
            </a:extLst>
          </p:cNvPr>
          <p:cNvSpPr>
            <a:spLocks noGrp="1"/>
          </p:cNvSpPr>
          <p:nvPr>
            <p:ph sz="half" idx="1"/>
          </p:nvPr>
        </p:nvSpPr>
        <p:spPr>
          <a:xfrm>
            <a:off x="838200" y="1825624"/>
            <a:ext cx="10515600" cy="4788535"/>
          </a:xfrm>
        </p:spPr>
        <p:txBody>
          <a:bodyPr>
            <a:normAutofit/>
          </a:bodyPr>
          <a:lstStyle/>
          <a:p>
            <a:pPr marL="0" indent="0">
              <a:buNone/>
            </a:pPr>
            <a:r>
              <a:rPr lang="ja-JP" altLang="en-US" sz="3600" dirty="0"/>
              <a:t>２．防御的登録を優先的にしてもらうドメインリストを表示できるサイトを作成</a:t>
            </a:r>
            <a:endParaRPr lang="en-US" altLang="ja-JP" sz="3600" dirty="0"/>
          </a:p>
          <a:p>
            <a:pPr marL="0" indent="0">
              <a:buNone/>
            </a:pPr>
            <a:r>
              <a:rPr kumimoji="1" lang="ja-JP" altLang="en-US" sz="2800" dirty="0"/>
              <a:t>・セキュリティ面での対策も考える（所有者のみが閲覧可能）</a:t>
            </a:r>
            <a:endParaRPr kumimoji="1" lang="en-US" altLang="ja-JP" sz="2800" dirty="0"/>
          </a:p>
          <a:p>
            <a:pPr marL="0" indent="0">
              <a:buNone/>
            </a:pPr>
            <a:endParaRPr lang="en-US" altLang="ja-JP" sz="2800" dirty="0"/>
          </a:p>
          <a:p>
            <a:pPr marL="0" indent="0">
              <a:buNone/>
            </a:pPr>
            <a:r>
              <a:rPr kumimoji="1" lang="ja-JP" altLang="en-US" sz="2800" dirty="0"/>
              <a:t>・攻撃者もサイトを見れてしまっては意味がない</a:t>
            </a:r>
            <a:endParaRPr kumimoji="1" lang="en-US" altLang="ja-JP" sz="2800" dirty="0"/>
          </a:p>
          <a:p>
            <a:pPr marL="0" indent="0">
              <a:buNone/>
            </a:pPr>
            <a:r>
              <a:rPr kumimoji="1" lang="ja-JP" altLang="en-US" sz="2400" dirty="0"/>
              <a:t>→１．フォームにメールアドレスを入力する</a:t>
            </a:r>
            <a:endParaRPr kumimoji="1" lang="en-US" altLang="ja-JP" sz="2400" dirty="0"/>
          </a:p>
          <a:p>
            <a:pPr marL="0" indent="0">
              <a:buNone/>
            </a:pPr>
            <a:r>
              <a:rPr lang="ja-JP" altLang="en-US" sz="2400" dirty="0"/>
              <a:t>　２．入力されたメールアドレスにドメインリストを送信</a:t>
            </a:r>
            <a:endParaRPr kumimoji="1" lang="en-US" altLang="ja-JP" sz="2400" dirty="0"/>
          </a:p>
        </p:txBody>
      </p:sp>
    </p:spTree>
    <p:extLst>
      <p:ext uri="{BB962C8B-B14F-4D97-AF65-F5344CB8AC3E}">
        <p14:creationId xmlns:p14="http://schemas.microsoft.com/office/powerpoint/2010/main" val="303878394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Ritsumei Futurize見出し">
      <a:majorFont>
        <a:latin typeface="游明朝 Demibold"/>
        <a:ea typeface="游明朝 Demibold"/>
        <a:cs typeface=""/>
      </a:majorFont>
      <a:minorFont>
        <a:latin typeface="游明朝 Demibold"/>
        <a:ea typeface="游明朝 Demibold"/>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itsFuturizeB(横長サイズ).pptx" id="{54B19328-301C-465F-8D4B-47EA995968DA}" vid="{F090BC0F-D974-4B82-B081-FA81012D8AB5}"/>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4107F8161E360D4DAACF3C8686ABC0D3" ma:contentTypeVersion="12" ma:contentTypeDescription="新しいドキュメントを作成します。" ma:contentTypeScope="" ma:versionID="442fa10dd766b01ec49a89281014b0c0">
  <xsd:schema xmlns:xsd="http://www.w3.org/2001/XMLSchema" xmlns:xs="http://www.w3.org/2001/XMLSchema" xmlns:p="http://schemas.microsoft.com/office/2006/metadata/properties" xmlns:ns3="bafe96fa-82eb-4752-ac47-75839dcc365b" xmlns:ns4="17f4d725-a695-4ac3-b392-61116b5096fa" targetNamespace="http://schemas.microsoft.com/office/2006/metadata/properties" ma:root="true" ma:fieldsID="17254abac3908ac3750377ed424f4320" ns3:_="" ns4:_="">
    <xsd:import namespace="bafe96fa-82eb-4752-ac47-75839dcc365b"/>
    <xsd:import namespace="17f4d725-a695-4ac3-b392-61116b5096fa"/>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DateTaken" minOccurs="0"/>
                <xsd:element ref="ns3:MediaLengthInSeconds" minOccurs="0"/>
                <xsd:element ref="ns3:_activity"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afe96fa-82eb-4752-ac47-75839dcc365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_activity" ma:index="17" nillable="true" ma:displayName="_activity" ma:hidden="true" ma:internalName="_activity">
      <xsd:simpleType>
        <xsd:restriction base="dms:Note"/>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7f4d725-a695-4ac3-b392-61116b5096fa" elementFormDefault="qualified">
    <xsd:import namespace="http://schemas.microsoft.com/office/2006/documentManagement/types"/>
    <xsd:import namespace="http://schemas.microsoft.com/office/infopath/2007/PartnerControls"/>
    <xsd:element name="SharedWithUsers" ma:index="12"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共有相手の詳細情報" ma:internalName="SharedWithDetails" ma:readOnly="true">
      <xsd:simpleType>
        <xsd:restriction base="dms:Note">
          <xsd:maxLength value="255"/>
        </xsd:restriction>
      </xsd:simpleType>
    </xsd:element>
    <xsd:element name="SharingHintHash" ma:index="14" nillable="true" ma:displayName="共有のヒントのハッシュ"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bafe96fa-82eb-4752-ac47-75839dcc365b" xsi:nil="true"/>
  </documentManagement>
</p:properties>
</file>

<file path=customXml/itemProps1.xml><?xml version="1.0" encoding="utf-8"?>
<ds:datastoreItem xmlns:ds="http://schemas.openxmlformats.org/officeDocument/2006/customXml" ds:itemID="{77CC0EA9-099B-4FBE-9B24-487F19F3958C}">
  <ds:schemaRefs>
    <ds:schemaRef ds:uri="17f4d725-a695-4ac3-b392-61116b5096fa"/>
    <ds:schemaRef ds:uri="bafe96fa-82eb-4752-ac47-75839dcc365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98B987C-3D91-4244-BE97-5399C5E2A3EC}">
  <ds:schemaRefs>
    <ds:schemaRef ds:uri="http://schemas.microsoft.com/sharepoint/v3/contenttype/forms"/>
  </ds:schemaRefs>
</ds:datastoreItem>
</file>

<file path=customXml/itemProps3.xml><?xml version="1.0" encoding="utf-8"?>
<ds:datastoreItem xmlns:ds="http://schemas.openxmlformats.org/officeDocument/2006/customXml" ds:itemID="{FAB7CAE2-DDB0-4DB3-B3B2-079AFC9FB340}">
  <ds:schemaRefs>
    <ds:schemaRef ds:uri="http://schemas.openxmlformats.org/package/2006/metadata/core-properties"/>
    <ds:schemaRef ds:uri="bafe96fa-82eb-4752-ac47-75839dcc365b"/>
    <ds:schemaRef ds:uri="http://purl.org/dc/terms/"/>
    <ds:schemaRef ds:uri="http://purl.org/dc/elements/1.1/"/>
    <ds:schemaRef ds:uri="http://www.w3.org/XML/1998/namespace"/>
    <ds:schemaRef ds:uri="http://purl.org/dc/dcmitype/"/>
    <ds:schemaRef ds:uri="http://schemas.microsoft.com/office/2006/documentManagement/types"/>
    <ds:schemaRef ds:uri="http://schemas.microsoft.com/office/infopath/2007/PartnerControls"/>
    <ds:schemaRef ds:uri="17f4d725-a695-4ac3-b392-61116b5096fa"/>
    <ds:schemaRef ds:uri="http://schemas.microsoft.com/office/2006/metadata/properties"/>
  </ds:schemaRefs>
</ds:datastoreItem>
</file>

<file path=docMetadata/LabelInfo.xml><?xml version="1.0" encoding="utf-8"?>
<clbl:labelList xmlns:clbl="http://schemas.microsoft.com/office/2020/mipLabelMetadata">
  <clbl:label id="{a449438d-3606-490b-844f-c4e15e535fca}" enabled="0" method="" siteId="{a449438d-3606-490b-844f-c4e15e535fca}" removed="1"/>
</clbl:labelList>
</file>

<file path=docProps/app.xml><?xml version="1.0" encoding="utf-8"?>
<Properties xmlns="http://schemas.openxmlformats.org/officeDocument/2006/extended-properties" xmlns:vt="http://schemas.openxmlformats.org/officeDocument/2006/docPropsVTypes">
  <Template>RitsFuturizeB(横長サイズ)</Template>
  <TotalTime>0</TotalTime>
  <Words>538</Words>
  <Application>Microsoft Office PowerPoint</Application>
  <PresentationFormat>ワイド画面</PresentationFormat>
  <Paragraphs>70</Paragraphs>
  <Slides>12</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12</vt:i4>
      </vt:variant>
    </vt:vector>
  </HeadingPairs>
  <TitlesOfParts>
    <vt:vector size="17" baseType="lpstr">
      <vt:lpstr>游ゴシック</vt:lpstr>
      <vt:lpstr>游明朝 Demibold</vt:lpstr>
      <vt:lpstr>Arial</vt:lpstr>
      <vt:lpstr>Roboto</vt:lpstr>
      <vt:lpstr>Office テーマ</vt:lpstr>
      <vt:lpstr>電子メールタイポスクワッティング対策のための防御的ドメイン登録の提案 (仮)</vt:lpstr>
      <vt:lpstr>研究背景</vt:lpstr>
      <vt:lpstr>研究背景</vt:lpstr>
      <vt:lpstr>研究背景</vt:lpstr>
      <vt:lpstr>研究背景</vt:lpstr>
      <vt:lpstr>研究目的</vt:lpstr>
      <vt:lpstr>研究方法・流れ</vt:lpstr>
      <vt:lpstr>今後の研究方針・方向性</vt:lpstr>
      <vt:lpstr>今後の研究方針・方向性</vt:lpstr>
      <vt:lpstr>今後の研究方針・方向性</vt:lpstr>
      <vt:lpstr>今後の研究方針・方向性</vt:lpstr>
      <vt:lpstr>今後の研究方針・方向性</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大西 優希(is0661fi)</dc:creator>
  <cp:lastModifiedBy>大西 優希(is0661fi)</cp:lastModifiedBy>
  <cp:revision>1</cp:revision>
  <dcterms:created xsi:type="dcterms:W3CDTF">2025-05-28T09:45:40Z</dcterms:created>
  <dcterms:modified xsi:type="dcterms:W3CDTF">2025-10-17T03:49:18Z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0x0101004107F8161E360D4DAACF3C8686ABC0D3</vt:lpwstr>
  </property>
</Properties>
</file>