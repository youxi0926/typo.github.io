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79" r:id="rId5"/>
    <p:sldId id="265" r:id="rId6"/>
    <p:sldId id="277" r:id="rId7"/>
    <p:sldId id="275" r:id="rId8"/>
    <p:sldId id="269" r:id="rId9"/>
    <p:sldId id="278" r:id="rId10"/>
    <p:sldId id="286" r:id="rId11"/>
    <p:sldId id="287" r:id="rId12"/>
    <p:sldId id="288" r:id="rId13"/>
    <p:sldId id="289" r:id="rId14"/>
    <p:sldId id="290" r:id="rId15"/>
    <p:sldId id="262" r:id="rId16"/>
    <p:sldId id="270" r:id="rId17"/>
    <p:sldId id="291" r:id="rId18"/>
    <p:sldId id="292" r:id="rId19"/>
    <p:sldId id="285" r:id="rId20"/>
    <p:sldId id="281" r:id="rId21"/>
    <p:sldId id="282" r:id="rId22"/>
    <p:sldId id="280" r:id="rId23"/>
    <p:sldId id="283"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59" d="100"/>
          <a:sy n="59" d="100"/>
        </p:scale>
        <p:origin x="9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071765E4-F3CC-2660-EF1E-2A9BCA6577FE}"/>
              </a:ext>
            </a:extLst>
          </p:cNvPr>
          <p:cNvSpPr>
            <a:spLocks noGrp="1"/>
          </p:cNvSpPr>
          <p:nvPr>
            <p:ph type="subTitle" idx="1"/>
          </p:nvPr>
        </p:nvSpPr>
        <p:spPr>
          <a:xfrm>
            <a:off x="651105" y="5055691"/>
            <a:ext cx="8108764" cy="670812"/>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 name="タイトル 1">
            <a:extLst>
              <a:ext uri="{FF2B5EF4-FFF2-40B4-BE49-F238E27FC236}">
                <a16:creationId xmlns:a16="http://schemas.microsoft.com/office/drawing/2014/main" id="{2EFE56DA-A430-230D-197E-C4283B5D551A}"/>
              </a:ext>
            </a:extLst>
          </p:cNvPr>
          <p:cNvSpPr>
            <a:spLocks noGrp="1"/>
          </p:cNvSpPr>
          <p:nvPr>
            <p:ph type="ctrTitle"/>
          </p:nvPr>
        </p:nvSpPr>
        <p:spPr>
          <a:xfrm>
            <a:off x="651106" y="1122363"/>
            <a:ext cx="9839442" cy="2387600"/>
          </a:xfrm>
          <a:prstGeom prst="rect">
            <a:avLst/>
          </a:prstGeom>
        </p:spPr>
        <p:txBody>
          <a:bodyPr anchor="b"/>
          <a:lstStyle>
            <a:lvl1pPr algn="l">
              <a:defRPr sz="6000"/>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3D8ADC58-A37C-30DF-7A70-687FA41C343F}"/>
              </a:ext>
            </a:extLst>
          </p:cNvPr>
          <p:cNvSpPr>
            <a:spLocks noGrp="1"/>
          </p:cNvSpPr>
          <p:nvPr>
            <p:ph type="dt" sz="half" idx="10"/>
          </p:nvPr>
        </p:nvSpPr>
        <p:spPr>
          <a:xfrm>
            <a:off x="838200" y="5887516"/>
            <a:ext cx="1122123" cy="212659"/>
          </a:xfrm>
          <a:prstGeom prst="rect">
            <a:avLst/>
          </a:prstGeom>
        </p:spPr>
        <p:txBody>
          <a:bodyPr/>
          <a:lstStyle>
            <a:lvl1pPr>
              <a:defRPr sz="900">
                <a:latin typeface="+mn-ea"/>
                <a:ea typeface="+mn-ea"/>
              </a:defRPr>
            </a:lvl1pPr>
          </a:lstStyle>
          <a:p>
            <a:fld id="{06D87175-6EEE-4527-92D5-478A8B8EB120}" type="datetimeFigureOut">
              <a:rPr kumimoji="1" lang="ja-JP" altLang="en-US" smtClean="0"/>
              <a:t>2025/10/23</a:t>
            </a:fld>
            <a:endParaRPr kumimoji="1" lang="ja-JP" altLang="en-US"/>
          </a:p>
        </p:txBody>
      </p:sp>
      <p:sp>
        <p:nvSpPr>
          <p:cNvPr id="5" name="フッター プレースホルダー 4">
            <a:extLst>
              <a:ext uri="{FF2B5EF4-FFF2-40B4-BE49-F238E27FC236}">
                <a16:creationId xmlns:a16="http://schemas.microsoft.com/office/drawing/2014/main" id="{E79955FB-76CF-735A-182F-0DA781B3F9A7}"/>
              </a:ext>
            </a:extLst>
          </p:cNvPr>
          <p:cNvSpPr>
            <a:spLocks noGrp="1"/>
          </p:cNvSpPr>
          <p:nvPr>
            <p:ph type="ftr" sz="quarter" idx="11"/>
          </p:nvPr>
        </p:nvSpPr>
        <p:spPr/>
        <p:txBody>
          <a:bodyPr/>
          <a:lstStyle/>
          <a:p>
            <a:endParaRPr kumimoji="1" lang="ja-JP" altLang="en-US"/>
          </a:p>
        </p:txBody>
      </p:sp>
      <p:pic>
        <p:nvPicPr>
          <p:cNvPr id="7" name="図 6">
            <a:extLst>
              <a:ext uri="{FF2B5EF4-FFF2-40B4-BE49-F238E27FC236}">
                <a16:creationId xmlns:a16="http://schemas.microsoft.com/office/drawing/2014/main" id="{343255D8-23B9-9BD4-8719-F7FAAB43CCEE}"/>
              </a:ext>
            </a:extLst>
          </p:cNvPr>
          <p:cNvPicPr>
            <a:picLocks noChangeAspect="1"/>
          </p:cNvPicPr>
          <p:nvPr/>
        </p:nvPicPr>
        <p:blipFill>
          <a:blip r:embed="rId2"/>
          <a:stretch>
            <a:fillRect/>
          </a:stretch>
        </p:blipFill>
        <p:spPr>
          <a:xfrm>
            <a:off x="7796072" y="1935010"/>
            <a:ext cx="4114800" cy="4635500"/>
          </a:xfrm>
          <a:prstGeom prst="rect">
            <a:avLst/>
          </a:prstGeom>
        </p:spPr>
      </p:pic>
      <p:pic>
        <p:nvPicPr>
          <p:cNvPr id="8" name="図 7">
            <a:extLst>
              <a:ext uri="{FF2B5EF4-FFF2-40B4-BE49-F238E27FC236}">
                <a16:creationId xmlns:a16="http://schemas.microsoft.com/office/drawing/2014/main" id="{3FC30191-9F18-DE9D-A4F1-14637FDB8668}"/>
              </a:ext>
            </a:extLst>
          </p:cNvPr>
          <p:cNvPicPr>
            <a:picLocks noChangeAspect="1"/>
          </p:cNvPicPr>
          <p:nvPr/>
        </p:nvPicPr>
        <p:blipFill>
          <a:blip r:embed="rId3"/>
          <a:stretch>
            <a:fillRect/>
          </a:stretch>
        </p:blipFill>
        <p:spPr>
          <a:xfrm>
            <a:off x="10241975" y="324565"/>
            <a:ext cx="1619250" cy="555625"/>
          </a:xfrm>
          <a:prstGeom prst="rect">
            <a:avLst/>
          </a:prstGeom>
        </p:spPr>
      </p:pic>
      <p:sp>
        <p:nvSpPr>
          <p:cNvPr id="10" name="フッター プレースホルダー 4">
            <a:extLst>
              <a:ext uri="{FF2B5EF4-FFF2-40B4-BE49-F238E27FC236}">
                <a16:creationId xmlns:a16="http://schemas.microsoft.com/office/drawing/2014/main" id="{110E3969-7FA7-7FD8-0FAE-F84ADE22ECE5}"/>
              </a:ext>
            </a:extLst>
          </p:cNvPr>
          <p:cNvSpPr txBox="1">
            <a:spLocks/>
          </p:cNvSpPr>
          <p:nvPr/>
        </p:nvSpPr>
        <p:spPr>
          <a:xfrm>
            <a:off x="367850" y="6608017"/>
            <a:ext cx="3600000" cy="92333"/>
          </a:xfrm>
          <a:prstGeom prst="rect">
            <a:avLst/>
          </a:prstGeom>
        </p:spPr>
        <p:txBody>
          <a:bodyPr vert="horz" lIns="0" tIns="0" rIns="0" bIns="0" rtlCol="0" anchor="t" anchorCtr="0">
            <a:spAutoFit/>
          </a:bodyPr>
          <a:lstStyle>
            <a:defPPr>
              <a:defRPr lang="ja-JP"/>
            </a:defPPr>
            <a:lvl1pPr marL="0" algn="l" defTabSz="914400" rtl="0" eaLnBrk="1" latinLnBrk="0" hangingPunct="1">
              <a:defRPr kumimoji="1" sz="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r>
              <a:rPr lang="en" altLang="ja-JP"/>
              <a:t>© </a:t>
            </a:r>
            <a:r>
              <a:rPr lang="en" altLang="ja-JP" err="1"/>
              <a:t>Ritsumeikan</a:t>
            </a:r>
            <a:r>
              <a:rPr lang="en" altLang="ja-JP"/>
              <a:t> Trust All Rights Reserved</a:t>
            </a:r>
            <a:endParaRPr lang="ja-JP" altLang="en-US"/>
          </a:p>
        </p:txBody>
      </p:sp>
    </p:spTree>
    <p:extLst>
      <p:ext uri="{BB962C8B-B14F-4D97-AF65-F5344CB8AC3E}">
        <p14:creationId xmlns:p14="http://schemas.microsoft.com/office/powerpoint/2010/main" val="728179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BD7A15-8708-1B2E-BF5A-9C9C43977E42}"/>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57BA2E-6B07-1EB7-F440-0581AEF7EA7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650D7E50-92B9-255D-D681-EE3FCD371C80}"/>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1212552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E4ADB6-A3D7-EB5E-EEF6-8933A3E7606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FA25AA1-C8C4-D13C-B270-7F640216D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5" name="フッター プレースホルダー 4">
            <a:extLst>
              <a:ext uri="{FF2B5EF4-FFF2-40B4-BE49-F238E27FC236}">
                <a16:creationId xmlns:a16="http://schemas.microsoft.com/office/drawing/2014/main" id="{5278875B-E2D3-435B-D968-E8B71ADA6D9D}"/>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2206841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CEFDE9-B59E-F9B4-91B2-04C71CE02E83}"/>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8D8D09-4ECB-53B0-DFAA-B0545E4092C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37FD869-2928-0F5B-F493-10D280B9F39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a:extLst>
              <a:ext uri="{FF2B5EF4-FFF2-40B4-BE49-F238E27FC236}">
                <a16:creationId xmlns:a16="http://schemas.microsoft.com/office/drawing/2014/main" id="{4DCDE5BE-E453-DAE8-F134-DFB744285D53}"/>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267881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9FAFCD-BD25-8118-4C78-8A317DAEE315}"/>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E4F53F-8E9A-46DD-3BED-3BD15A4577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9FA72B5-B8FE-ACEA-49D3-5F7E42695E3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CE4F295-8653-3860-12A0-3479F4B31B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90F9508-BF78-9F6E-F3A2-B9C49A1AD7B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フッター プレースホルダー 7">
            <a:extLst>
              <a:ext uri="{FF2B5EF4-FFF2-40B4-BE49-F238E27FC236}">
                <a16:creationId xmlns:a16="http://schemas.microsoft.com/office/drawing/2014/main" id="{A72B600D-6F9A-C324-7558-0F0D530C36C8}"/>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324983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FDE963-99C8-7726-A32E-FF592394CB64}"/>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4" name="フッター プレースホルダー 3">
            <a:extLst>
              <a:ext uri="{FF2B5EF4-FFF2-40B4-BE49-F238E27FC236}">
                <a16:creationId xmlns:a16="http://schemas.microsoft.com/office/drawing/2014/main" id="{4AC002CE-8727-B50B-E620-3F23F9D8AD2E}"/>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81719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9E23B22E-25ED-55A6-E8C3-C6102BF7AF7D}"/>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657434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C7858A-2C97-931F-89E8-DA8332C2BBCB}"/>
              </a:ext>
            </a:extLst>
          </p:cNvPr>
          <p:cNvSpPr>
            <a:spLocks noGrp="1"/>
          </p:cNvSpPr>
          <p:nvPr>
            <p:ph type="title"/>
          </p:nvPr>
        </p:nvSpPr>
        <p:spPr>
          <a:xfrm>
            <a:off x="838200" y="627380"/>
            <a:ext cx="10512424" cy="739140"/>
          </a:xfrm>
          <a:prstGeom prst="rect">
            <a:avLst/>
          </a:prstGeom>
        </p:spPr>
        <p:txBody>
          <a:bodyPr anchor="b">
            <a:normAutofit/>
          </a:bodyPr>
          <a:lstStyle>
            <a:lvl1pPr>
              <a:defRPr sz="36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0C33624-FE7E-8080-F51D-27058E520C86}"/>
              </a:ext>
            </a:extLst>
          </p:cNvPr>
          <p:cNvSpPr>
            <a:spLocks noGrp="1"/>
          </p:cNvSpPr>
          <p:nvPr>
            <p:ph idx="1"/>
          </p:nvPr>
        </p:nvSpPr>
        <p:spPr>
          <a:xfrm>
            <a:off x="4772025" y="1554480"/>
            <a:ext cx="6583363" cy="430657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96AE159-1A70-CE0E-7D12-710E876833CE}"/>
              </a:ext>
            </a:extLst>
          </p:cNvPr>
          <p:cNvSpPr>
            <a:spLocks noGrp="1"/>
          </p:cNvSpPr>
          <p:nvPr>
            <p:ph type="body" sz="half" idx="2"/>
          </p:nvPr>
        </p:nvSpPr>
        <p:spPr>
          <a:xfrm>
            <a:off x="839788" y="1562418"/>
            <a:ext cx="3932237" cy="430657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6" name="フッター プレースホルダー 5">
            <a:extLst>
              <a:ext uri="{FF2B5EF4-FFF2-40B4-BE49-F238E27FC236}">
                <a16:creationId xmlns:a16="http://schemas.microsoft.com/office/drawing/2014/main" id="{842BD640-276B-5FBA-DD2B-3B0A44659FEA}"/>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831774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タイトル付きの図">
    <p:spTree>
      <p:nvGrpSpPr>
        <p:cNvPr id="1" name=""/>
        <p:cNvGrpSpPr/>
        <p:nvPr/>
      </p:nvGrpSpPr>
      <p:grpSpPr>
        <a:xfrm>
          <a:off x="0" y="0"/>
          <a:ext cx="0" cy="0"/>
          <a:chOff x="0" y="0"/>
          <a:chExt cx="0" cy="0"/>
        </a:xfrm>
      </p:grpSpPr>
      <p:sp>
        <p:nvSpPr>
          <p:cNvPr id="3" name="図プレースホルダー 2">
            <a:extLst>
              <a:ext uri="{FF2B5EF4-FFF2-40B4-BE49-F238E27FC236}">
                <a16:creationId xmlns:a16="http://schemas.microsoft.com/office/drawing/2014/main" id="{E81A7492-C371-FB51-1410-7084AE99E214}"/>
              </a:ext>
            </a:extLst>
          </p:cNvPr>
          <p:cNvSpPr>
            <a:spLocks noGrp="1"/>
          </p:cNvSpPr>
          <p:nvPr>
            <p:ph type="pic" idx="1"/>
          </p:nvPr>
        </p:nvSpPr>
        <p:spPr>
          <a:xfrm>
            <a:off x="5183188" y="1630680"/>
            <a:ext cx="6172200" cy="423037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614035F8-0347-942F-8034-45A6E032F1BD}"/>
              </a:ext>
            </a:extLst>
          </p:cNvPr>
          <p:cNvSpPr>
            <a:spLocks noGrp="1"/>
          </p:cNvSpPr>
          <p:nvPr>
            <p:ph type="body" sz="half" idx="2"/>
          </p:nvPr>
        </p:nvSpPr>
        <p:spPr>
          <a:xfrm>
            <a:off x="839788" y="1638618"/>
            <a:ext cx="3932237" cy="423037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6" name="フッター プレースホルダー 5">
            <a:extLst>
              <a:ext uri="{FF2B5EF4-FFF2-40B4-BE49-F238E27FC236}">
                <a16:creationId xmlns:a16="http://schemas.microsoft.com/office/drawing/2014/main" id="{BB030AC9-50E0-9F2F-0934-1920DD39ED16}"/>
              </a:ext>
            </a:extLst>
          </p:cNvPr>
          <p:cNvSpPr>
            <a:spLocks noGrp="1"/>
          </p:cNvSpPr>
          <p:nvPr>
            <p:ph type="ftr" sz="quarter" idx="11"/>
          </p:nvPr>
        </p:nvSpPr>
        <p:spPr/>
        <p:txBody>
          <a:bodyPr/>
          <a:lstStyle/>
          <a:p>
            <a:endParaRPr kumimoji="1" lang="ja-JP" altLang="en-US"/>
          </a:p>
        </p:txBody>
      </p:sp>
      <p:sp>
        <p:nvSpPr>
          <p:cNvPr id="8" name="タイトル 1">
            <a:extLst>
              <a:ext uri="{FF2B5EF4-FFF2-40B4-BE49-F238E27FC236}">
                <a16:creationId xmlns:a16="http://schemas.microsoft.com/office/drawing/2014/main" id="{514674DA-9FD1-4172-BD69-576184FFE93B}"/>
              </a:ext>
            </a:extLst>
          </p:cNvPr>
          <p:cNvSpPr>
            <a:spLocks noGrp="1"/>
          </p:cNvSpPr>
          <p:nvPr>
            <p:ph type="title"/>
          </p:nvPr>
        </p:nvSpPr>
        <p:spPr>
          <a:xfrm>
            <a:off x="838200" y="627380"/>
            <a:ext cx="10512424" cy="739140"/>
          </a:xfrm>
          <a:prstGeom prst="rect">
            <a:avLst/>
          </a:prstGeom>
        </p:spPr>
        <p:txBody>
          <a:bodyPr anchor="b">
            <a:normAutofit/>
          </a:bodyPr>
          <a:lstStyle>
            <a:lvl1pPr>
              <a:defRPr sz="3600"/>
            </a:lvl1pPr>
          </a:lstStyle>
          <a:p>
            <a:r>
              <a:rPr kumimoji="1" lang="ja-JP" altLang="en-US"/>
              <a:t>マスター タイトルの書式設定</a:t>
            </a:r>
          </a:p>
        </p:txBody>
      </p:sp>
    </p:spTree>
    <p:extLst>
      <p:ext uri="{BB962C8B-B14F-4D97-AF65-F5344CB8AC3E}">
        <p14:creationId xmlns:p14="http://schemas.microsoft.com/office/powerpoint/2010/main" val="1305193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2E3E4A-1132-2460-36CD-C029F2E00EEB}"/>
              </a:ext>
            </a:extLst>
          </p:cNvPr>
          <p:cNvSpPr>
            <a:spLocks noGrp="1"/>
          </p:cNvSpPr>
          <p:nvPr>
            <p:ph type="title"/>
          </p:nvPr>
        </p:nvSpPr>
        <p:spPr>
          <a:xfrm>
            <a:off x="838200" y="699427"/>
            <a:ext cx="10515600" cy="687061"/>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73A03F2-10B9-7066-94D9-58AB836EDB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CAB6D438-7027-BD0B-D88D-D7AB0896AD65}"/>
              </a:ext>
            </a:extLst>
          </p:cNvPr>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487783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4.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07A5805C-46BB-54E8-8163-CDDC347D4378}"/>
              </a:ext>
            </a:extLst>
          </p:cNvPr>
          <p:cNvSpPr/>
          <p:nvPr/>
        </p:nvSpPr>
        <p:spPr>
          <a:xfrm>
            <a:off x="-600" y="6390000"/>
            <a:ext cx="12193200" cy="468000"/>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a:extLst>
              <a:ext uri="{FF2B5EF4-FFF2-40B4-BE49-F238E27FC236}">
                <a16:creationId xmlns:a16="http://schemas.microsoft.com/office/drawing/2014/main" id="{EE9202B2-A960-26AE-2172-51B916899CB6}"/>
              </a:ext>
            </a:extLst>
          </p:cNvPr>
          <p:cNvSpPr>
            <a:spLocks noGrp="1"/>
          </p:cNvSpPr>
          <p:nvPr>
            <p:ph type="title"/>
          </p:nvPr>
        </p:nvSpPr>
        <p:spPr>
          <a:xfrm>
            <a:off x="838200" y="699427"/>
            <a:ext cx="10515600" cy="687061"/>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B550EBF-8B8A-62F9-9208-6C4FC21F9B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a:extLst>
              <a:ext uri="{FF2B5EF4-FFF2-40B4-BE49-F238E27FC236}">
                <a16:creationId xmlns:a16="http://schemas.microsoft.com/office/drawing/2014/main" id="{0B55B4BA-8988-F022-F731-A070E604B753}"/>
              </a:ext>
            </a:extLst>
          </p:cNvPr>
          <p:cNvSpPr>
            <a:spLocks noGrp="1"/>
          </p:cNvSpPr>
          <p:nvPr>
            <p:ph type="ftr" sz="quarter" idx="3"/>
          </p:nvPr>
        </p:nvSpPr>
        <p:spPr>
          <a:xfrm>
            <a:off x="4094967" y="6458097"/>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kumimoji="1" lang="ja-JP" altLang="en-US"/>
          </a:p>
        </p:txBody>
      </p:sp>
      <p:pic>
        <p:nvPicPr>
          <p:cNvPr id="26" name="図 25">
            <a:extLst>
              <a:ext uri="{FF2B5EF4-FFF2-40B4-BE49-F238E27FC236}">
                <a16:creationId xmlns:a16="http://schemas.microsoft.com/office/drawing/2014/main" id="{01311B64-520A-0AAC-F4FC-79C4FFE77664}"/>
              </a:ext>
            </a:extLst>
          </p:cNvPr>
          <p:cNvPicPr>
            <a:picLocks noChangeAspect="1"/>
          </p:cNvPicPr>
          <p:nvPr/>
        </p:nvPicPr>
        <p:blipFill>
          <a:blip r:embed="rId12"/>
          <a:stretch>
            <a:fillRect/>
          </a:stretch>
        </p:blipFill>
        <p:spPr>
          <a:xfrm>
            <a:off x="291650" y="6475799"/>
            <a:ext cx="2362200" cy="292100"/>
          </a:xfrm>
          <a:prstGeom prst="rect">
            <a:avLst/>
          </a:prstGeom>
        </p:spPr>
      </p:pic>
      <p:pic>
        <p:nvPicPr>
          <p:cNvPr id="27" name="図 26">
            <a:extLst>
              <a:ext uri="{FF2B5EF4-FFF2-40B4-BE49-F238E27FC236}">
                <a16:creationId xmlns:a16="http://schemas.microsoft.com/office/drawing/2014/main" id="{235FDDFB-3CA7-C452-79B4-82AB4F480CD6}"/>
              </a:ext>
            </a:extLst>
          </p:cNvPr>
          <p:cNvPicPr>
            <a:picLocks noChangeAspect="1"/>
          </p:cNvPicPr>
          <p:nvPr/>
        </p:nvPicPr>
        <p:blipFill>
          <a:blip r:embed="rId13"/>
          <a:stretch>
            <a:fillRect/>
          </a:stretch>
        </p:blipFill>
        <p:spPr>
          <a:xfrm>
            <a:off x="8745616" y="6463099"/>
            <a:ext cx="2260600" cy="317500"/>
          </a:xfrm>
          <a:prstGeom prst="rect">
            <a:avLst/>
          </a:prstGeom>
        </p:spPr>
      </p:pic>
      <p:sp>
        <p:nvSpPr>
          <p:cNvPr id="30" name="フッター プレースホルダー 4">
            <a:extLst>
              <a:ext uri="{FF2B5EF4-FFF2-40B4-BE49-F238E27FC236}">
                <a16:creationId xmlns:a16="http://schemas.microsoft.com/office/drawing/2014/main" id="{A604570C-02D4-D843-7309-7BDC4669FD8C}"/>
              </a:ext>
            </a:extLst>
          </p:cNvPr>
          <p:cNvSpPr txBox="1">
            <a:spLocks/>
          </p:cNvSpPr>
          <p:nvPr/>
        </p:nvSpPr>
        <p:spPr>
          <a:xfrm>
            <a:off x="2735300" y="6577834"/>
            <a:ext cx="3600000" cy="92333"/>
          </a:xfrm>
          <a:prstGeom prst="rect">
            <a:avLst/>
          </a:prstGeom>
        </p:spPr>
        <p:txBody>
          <a:bodyPr vert="horz" lIns="0" tIns="0" rIns="0" bIns="0" rtlCol="0" anchor="b" anchorCtr="0">
            <a:spAutoFit/>
          </a:bodyPr>
          <a:lstStyle>
            <a:defPPr>
              <a:defRPr lang="ja-JP"/>
            </a:defPPr>
            <a:lvl1pPr marL="0" algn="l" defTabSz="914400" rtl="0" eaLnBrk="1" latinLnBrk="0" hangingPunct="1">
              <a:defRPr kumimoji="1" sz="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bg1"/>
                </a:solidFill>
              </a:rPr>
              <a:t>© </a:t>
            </a:r>
            <a:r>
              <a:rPr lang="en" altLang="ja-JP" err="1">
                <a:solidFill>
                  <a:schemeClr val="bg1"/>
                </a:solidFill>
              </a:rPr>
              <a:t>Ritsumeikan</a:t>
            </a:r>
            <a:r>
              <a:rPr lang="en" altLang="ja-JP">
                <a:solidFill>
                  <a:schemeClr val="bg1"/>
                </a:solidFill>
              </a:rPr>
              <a:t> Trust All Rights Reserved</a:t>
            </a:r>
            <a:endParaRPr lang="ja-JP" altLang="en-US">
              <a:solidFill>
                <a:schemeClr val="bg1"/>
              </a:solidFill>
            </a:endParaRPr>
          </a:p>
        </p:txBody>
      </p:sp>
      <p:cxnSp>
        <p:nvCxnSpPr>
          <p:cNvPr id="33" name="直線コネクタ 32">
            <a:extLst>
              <a:ext uri="{FF2B5EF4-FFF2-40B4-BE49-F238E27FC236}">
                <a16:creationId xmlns:a16="http://schemas.microsoft.com/office/drawing/2014/main" id="{F42AFCD3-AC50-32F1-822A-2AEBB999021C}"/>
              </a:ext>
            </a:extLst>
          </p:cNvPr>
          <p:cNvCxnSpPr>
            <a:cxnSpLocks/>
          </p:cNvCxnSpPr>
          <p:nvPr/>
        </p:nvCxnSpPr>
        <p:spPr>
          <a:xfrm>
            <a:off x="11246070" y="6534000"/>
            <a:ext cx="0" cy="180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28" name="図 27">
            <a:extLst>
              <a:ext uri="{FF2B5EF4-FFF2-40B4-BE49-F238E27FC236}">
                <a16:creationId xmlns:a16="http://schemas.microsoft.com/office/drawing/2014/main" id="{D1F9A1B1-0D7C-A456-B0EC-AD0046A50774}"/>
              </a:ext>
            </a:extLst>
          </p:cNvPr>
          <p:cNvPicPr>
            <a:picLocks noChangeAspect="1"/>
          </p:cNvPicPr>
          <p:nvPr/>
        </p:nvPicPr>
        <p:blipFill>
          <a:blip r:embed="rId14"/>
          <a:stretch>
            <a:fillRect/>
          </a:stretch>
        </p:blipFill>
        <p:spPr>
          <a:xfrm>
            <a:off x="182390" y="176040"/>
            <a:ext cx="1790700" cy="1511300"/>
          </a:xfrm>
          <a:prstGeom prst="rect">
            <a:avLst/>
          </a:prstGeom>
        </p:spPr>
      </p:pic>
      <p:pic>
        <p:nvPicPr>
          <p:cNvPr id="29" name="図 28">
            <a:extLst>
              <a:ext uri="{FF2B5EF4-FFF2-40B4-BE49-F238E27FC236}">
                <a16:creationId xmlns:a16="http://schemas.microsoft.com/office/drawing/2014/main" id="{DA6A624E-1D18-0CF3-473A-1340FAAC16F8}"/>
              </a:ext>
            </a:extLst>
          </p:cNvPr>
          <p:cNvPicPr>
            <a:picLocks noChangeAspect="1"/>
          </p:cNvPicPr>
          <p:nvPr/>
        </p:nvPicPr>
        <p:blipFill>
          <a:blip r:embed="rId15"/>
          <a:stretch>
            <a:fillRect/>
          </a:stretch>
        </p:blipFill>
        <p:spPr>
          <a:xfrm>
            <a:off x="10790410" y="4892175"/>
            <a:ext cx="1219200" cy="1358900"/>
          </a:xfrm>
          <a:prstGeom prst="rect">
            <a:avLst/>
          </a:prstGeom>
        </p:spPr>
      </p:pic>
      <p:sp>
        <p:nvSpPr>
          <p:cNvPr id="31" name="スライド番号プレースホルダー 5">
            <a:extLst>
              <a:ext uri="{FF2B5EF4-FFF2-40B4-BE49-F238E27FC236}">
                <a16:creationId xmlns:a16="http://schemas.microsoft.com/office/drawing/2014/main" id="{33F3B559-9DBB-909F-9994-2FB6E81C09C9}"/>
              </a:ext>
            </a:extLst>
          </p:cNvPr>
          <p:cNvSpPr txBox="1">
            <a:spLocks/>
          </p:cNvSpPr>
          <p:nvPr/>
        </p:nvSpPr>
        <p:spPr>
          <a:xfrm>
            <a:off x="10076700" y="6516000"/>
            <a:ext cx="1800000" cy="216000"/>
          </a:xfrm>
          <a:prstGeom prst="rect">
            <a:avLst/>
          </a:prstGeom>
        </p:spPr>
        <p:txBody>
          <a:bodyPr vert="horz" lIns="0" tIns="0" rIns="0" bIns="0" rtlCol="0" anchor="ctr" anchorCtr="0"/>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7381B21D-C635-6F46-9D11-2A7199EC326E}" type="slidenum">
              <a:rPr lang="ja-JP" altLang="en-US" sz="1200" b="0" i="0" smtClean="0">
                <a:solidFill>
                  <a:schemeClr val="bg1"/>
                </a:solidFill>
                <a:latin typeface="Arial" panose="020B0604020202020204" pitchFamily="34" charset="0"/>
                <a:cs typeface="Arial" panose="020B0604020202020204" pitchFamily="34" charset="0"/>
              </a:rPr>
              <a:pPr/>
              <a:t>‹#›</a:t>
            </a:fld>
            <a:endParaRPr lang="ja-JP" altLang="en-US" sz="1200" b="0" i="0">
              <a:solidFill>
                <a:schemeClr val="bg1"/>
              </a:solidFill>
              <a:latin typeface="Arial" panose="020B0604020202020204" pitchFamily="34" charset="0"/>
              <a:cs typeface="Arial" panose="020B0604020202020204" pitchFamily="34" charset="0"/>
            </a:endParaRPr>
          </a:p>
        </p:txBody>
      </p:sp>
      <p:cxnSp>
        <p:nvCxnSpPr>
          <p:cNvPr id="32" name="直線コネクタ 31">
            <a:extLst>
              <a:ext uri="{FF2B5EF4-FFF2-40B4-BE49-F238E27FC236}">
                <a16:creationId xmlns:a16="http://schemas.microsoft.com/office/drawing/2014/main" id="{F40252DB-AFBC-A072-8F40-49A637C97D2A}"/>
              </a:ext>
            </a:extLst>
          </p:cNvPr>
          <p:cNvCxnSpPr>
            <a:cxnSpLocks/>
          </p:cNvCxnSpPr>
          <p:nvPr/>
        </p:nvCxnSpPr>
        <p:spPr>
          <a:xfrm>
            <a:off x="1056000" y="1452080"/>
            <a:ext cx="10035797" cy="0"/>
          </a:xfrm>
          <a:prstGeom prst="line">
            <a:avLst/>
          </a:prstGeom>
          <a:ln w="41275">
            <a:solidFill>
              <a:srgbClr val="9B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244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ctr" defTabSz="914400" rtl="0" eaLnBrk="1" latinLnBrk="0" hangingPunct="1">
        <a:lnSpc>
          <a:spcPct val="90000"/>
        </a:lnSpc>
        <a:spcBef>
          <a:spcPct val="0"/>
        </a:spcBef>
        <a:buNone/>
        <a:defRPr kumimoji="1" sz="3600" kern="1200">
          <a:solidFill>
            <a:schemeClr val="tx1"/>
          </a:solidFill>
          <a:latin typeface="+mj-ea"/>
          <a:ea typeface="+mj-ea"/>
          <a:cs typeface="+mj-cs"/>
        </a:defRPr>
      </a:lvl1pPr>
    </p:titleStyle>
    <p:bodyStyle>
      <a:lvl1pPr marL="228600" indent="-228600" algn="l" defTabSz="914400" rtl="0" eaLnBrk="1" latinLnBrk="0" hangingPunct="1">
        <a:lnSpc>
          <a:spcPct val="90000"/>
        </a:lnSpc>
        <a:spcBef>
          <a:spcPts val="1000"/>
        </a:spcBef>
        <a:buClr>
          <a:srgbClr val="9B0000"/>
        </a:buClr>
        <a:buFont typeface="Arial" panose="020B0604020202020204" pitchFamily="34" charset="0"/>
        <a:buChar char="•"/>
        <a:defRPr kumimoji="1" sz="4400" kern="1200">
          <a:solidFill>
            <a:schemeClr val="tx1"/>
          </a:solidFill>
          <a:latin typeface="+mn-lt"/>
          <a:ea typeface="+mn-ea"/>
          <a:cs typeface="+mn-cs"/>
        </a:defRPr>
      </a:lvl1pPr>
      <a:lvl2pPr marL="324000" indent="-228600" algn="l" defTabSz="914400" rtl="0" eaLnBrk="1" latinLnBrk="0" hangingPunct="1">
        <a:lnSpc>
          <a:spcPct val="90000"/>
        </a:lnSpc>
        <a:spcBef>
          <a:spcPts val="500"/>
        </a:spcBef>
        <a:buClr>
          <a:srgbClr val="9B0000"/>
        </a:buClr>
        <a:buFont typeface="Arial" panose="020B0604020202020204" pitchFamily="34" charset="0"/>
        <a:buChar char="•"/>
        <a:defRPr kumimoji="1" sz="3600" kern="1200">
          <a:solidFill>
            <a:schemeClr val="tx1"/>
          </a:solidFill>
          <a:latin typeface="+mn-lt"/>
          <a:ea typeface="+mn-ea"/>
          <a:cs typeface="+mn-cs"/>
        </a:defRPr>
      </a:lvl2pPr>
      <a:lvl3pPr marL="432000" indent="-228600" algn="l" defTabSz="914400" rtl="0" eaLnBrk="1" latinLnBrk="0" hangingPunct="1">
        <a:lnSpc>
          <a:spcPct val="90000"/>
        </a:lnSpc>
        <a:spcBef>
          <a:spcPts val="500"/>
        </a:spcBef>
        <a:buClr>
          <a:srgbClr val="9B0000"/>
        </a:buClr>
        <a:buFont typeface="Arial" panose="020B0604020202020204" pitchFamily="34" charset="0"/>
        <a:buChar char="•"/>
        <a:defRPr kumimoji="1" sz="2800" kern="1200">
          <a:solidFill>
            <a:schemeClr val="tx1"/>
          </a:solidFill>
          <a:latin typeface="+mn-lt"/>
          <a:ea typeface="+mn-ea"/>
          <a:cs typeface="+mn-cs"/>
        </a:defRPr>
      </a:lvl3pPr>
      <a:lvl4pPr marL="504000" indent="-228600" algn="l" defTabSz="914400" rtl="0" eaLnBrk="1" latinLnBrk="0" hangingPunct="1">
        <a:lnSpc>
          <a:spcPct val="90000"/>
        </a:lnSpc>
        <a:spcBef>
          <a:spcPts val="500"/>
        </a:spcBef>
        <a:buClr>
          <a:srgbClr val="9B0000"/>
        </a:buClr>
        <a:buFont typeface="Arial" panose="020B0604020202020204" pitchFamily="34" charset="0"/>
        <a:buChar char="•"/>
        <a:defRPr kumimoji="1" sz="2400" kern="1200">
          <a:solidFill>
            <a:schemeClr val="tx1"/>
          </a:solidFill>
          <a:latin typeface="+mn-lt"/>
          <a:ea typeface="+mn-ea"/>
          <a:cs typeface="+mn-cs"/>
        </a:defRPr>
      </a:lvl4pPr>
      <a:lvl5pPr marL="576000" indent="-228600" algn="l" defTabSz="914400" rtl="0" eaLnBrk="1" latinLnBrk="0" hangingPunct="1">
        <a:lnSpc>
          <a:spcPct val="90000"/>
        </a:lnSpc>
        <a:spcBef>
          <a:spcPts val="500"/>
        </a:spcBef>
        <a:buClr>
          <a:srgbClr val="9B0000"/>
        </a:buClr>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hyperlink" Target="https://www.wired.com/2011/09/doppelganger-domains/?utm_source" TargetMode="External"/><Relationship Id="rId2" Type="http://schemas.openxmlformats.org/officeDocument/2006/relationships/hyperlink" Target="https://xtech.nikkei.com/atcl/nxt/column/18/00676/041700076/"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nlog.jp/domain-volume-ranking/" TargetMode="Externa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C5412-3819-81D7-E0BB-F79BC80DD7A2}"/>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42254590-57AC-9F8B-1E46-62B560B0A1AB}"/>
              </a:ext>
            </a:extLst>
          </p:cNvPr>
          <p:cNvSpPr>
            <a:spLocks noGrp="1"/>
          </p:cNvSpPr>
          <p:nvPr>
            <p:ph type="subTitle" idx="1"/>
          </p:nvPr>
        </p:nvSpPr>
        <p:spPr>
          <a:xfrm>
            <a:off x="651105" y="5088467"/>
            <a:ext cx="8108764" cy="638036"/>
          </a:xfrm>
        </p:spPr>
        <p:txBody>
          <a:bodyPr>
            <a:normAutofit/>
          </a:bodyPr>
          <a:lstStyle/>
          <a:p>
            <a:r>
              <a:rPr lang="en-US" altLang="ja-JP" sz="1800" dirty="0"/>
              <a:t>B4</a:t>
            </a:r>
            <a:r>
              <a:rPr lang="ja-JP" altLang="en-US" sz="1800" dirty="0"/>
              <a:t>　大西優希</a:t>
            </a:r>
            <a:endParaRPr kumimoji="1" lang="ja-JP" altLang="en-US" sz="1800" dirty="0"/>
          </a:p>
        </p:txBody>
      </p:sp>
      <p:sp>
        <p:nvSpPr>
          <p:cNvPr id="2" name="タイトル 1">
            <a:extLst>
              <a:ext uri="{FF2B5EF4-FFF2-40B4-BE49-F238E27FC236}">
                <a16:creationId xmlns:a16="http://schemas.microsoft.com/office/drawing/2014/main" id="{F14594F0-C0F8-7DE6-1FB7-6914564E7E4D}"/>
              </a:ext>
            </a:extLst>
          </p:cNvPr>
          <p:cNvSpPr>
            <a:spLocks noGrp="1"/>
          </p:cNvSpPr>
          <p:nvPr>
            <p:ph type="ctrTitle"/>
          </p:nvPr>
        </p:nvSpPr>
        <p:spPr>
          <a:xfrm>
            <a:off x="651105" y="1671003"/>
            <a:ext cx="11375432" cy="2387600"/>
          </a:xfrm>
        </p:spPr>
        <p:txBody>
          <a:bodyPr>
            <a:normAutofit/>
          </a:bodyPr>
          <a:lstStyle/>
          <a:p>
            <a:pPr marL="0" marR="0" lvl="0" indent="0" defTabSz="914400" rtl="0" eaLnBrk="1" fontAlgn="auto" latinLnBrk="0" hangingPunct="1">
              <a:lnSpc>
                <a:spcPct val="100000"/>
              </a:lnSpc>
              <a:spcBef>
                <a:spcPts val="0"/>
              </a:spcBef>
              <a:spcAft>
                <a:spcPts val="0"/>
              </a:spcAft>
              <a:tabLst/>
              <a:defRPr/>
            </a:pPr>
            <a:r>
              <a:rPr kumimoji="1" lang="ja-JP" altLang="en-US" sz="4400" b="1" dirty="0"/>
              <a:t>電子メールタイポスクワッティング対策の</a:t>
            </a:r>
            <a:br>
              <a:rPr kumimoji="1" lang="en-US" altLang="ja-JP" sz="4400" b="1" dirty="0"/>
            </a:br>
            <a:r>
              <a:rPr kumimoji="1" lang="ja-JP" altLang="en-US" sz="4400" b="1" dirty="0"/>
              <a:t>ための防御的ドメイン登録の提案 </a:t>
            </a:r>
            <a:r>
              <a:rPr kumimoji="1" lang="en-US" altLang="ja-JP" sz="4400" b="1" dirty="0"/>
              <a:t>(</a:t>
            </a:r>
            <a:r>
              <a:rPr kumimoji="1" lang="ja-JP" altLang="en-US" sz="4400" b="1" dirty="0"/>
              <a:t>仮</a:t>
            </a:r>
            <a:r>
              <a:rPr lang="en-US" altLang="ja-JP" sz="4400" b="1" dirty="0"/>
              <a:t>)</a:t>
            </a:r>
            <a:endParaRPr kumimoji="1" lang="ja-JP" altLang="en-US" sz="4400" b="1" dirty="0"/>
          </a:p>
        </p:txBody>
      </p:sp>
    </p:spTree>
    <p:extLst>
      <p:ext uri="{BB962C8B-B14F-4D97-AF65-F5344CB8AC3E}">
        <p14:creationId xmlns:p14="http://schemas.microsoft.com/office/powerpoint/2010/main" val="318275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9BBF-7D3A-F21A-0AB1-02A69CC360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47DF9E6-94C2-1478-2694-D2872714B645}"/>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69C7353C-4425-DD62-92D2-2355BF3498DF}"/>
              </a:ext>
            </a:extLst>
          </p:cNvPr>
          <p:cNvSpPr>
            <a:spLocks noGrp="1"/>
          </p:cNvSpPr>
          <p:nvPr>
            <p:ph sz="half" idx="1"/>
          </p:nvPr>
        </p:nvSpPr>
        <p:spPr>
          <a:xfrm>
            <a:off x="838200" y="1825625"/>
            <a:ext cx="10515600" cy="4351338"/>
          </a:xfrm>
        </p:spPr>
        <p:txBody>
          <a:bodyPr>
            <a:normAutofit/>
          </a:bodyPr>
          <a:lstStyle/>
          <a:p>
            <a:r>
              <a:rPr lang="ja-JP" altLang="en-US" sz="2800" b="0" i="0">
                <a:solidFill>
                  <a:srgbClr val="111111"/>
                </a:solidFill>
                <a:effectLst/>
                <a:latin typeface="Roboto" panose="02000000000000000000" pitchFamily="2" charset="0"/>
              </a:rPr>
              <a:t>タイポスクワッティングは、</a:t>
            </a:r>
            <a:r>
              <a:rPr lang="ja-JP" altLang="en-US" sz="2800" b="1" i="0">
                <a:solidFill>
                  <a:srgbClr val="111111"/>
                </a:solidFill>
                <a:effectLst/>
                <a:latin typeface="Roboto" panose="02000000000000000000" pitchFamily="2" charset="0"/>
              </a:rPr>
              <a:t>サイバー攻撃の一種</a:t>
            </a:r>
            <a:r>
              <a:rPr lang="ja-JP" altLang="en-US" sz="2800" b="0" i="0">
                <a:solidFill>
                  <a:srgbClr val="111111"/>
                </a:solidFill>
                <a:effectLst/>
                <a:latin typeface="Roboto" panose="02000000000000000000" pitchFamily="2" charset="0"/>
              </a:rPr>
              <a:t>で、ユーザーのタイプミスを巧みに利用して不正なウェブサイトへ誘導する手法</a:t>
            </a:r>
            <a:endParaRPr kumimoji="1" lang="en-US" altLang="ja-JP" sz="2800"/>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A52FB1CE-E201-A5C7-27C9-7BD8D6C16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1" y="3429000"/>
            <a:ext cx="1480714" cy="1394414"/>
          </a:xfrm>
          <a:prstGeom prst="rect">
            <a:avLst/>
          </a:prstGeom>
        </p:spPr>
      </p:pic>
      <p:pic>
        <p:nvPicPr>
          <p:cNvPr id="7" name="図 6" descr="アイコン&#10;&#10;AI によって生成されたコンテンツは間違っている可能性があります。">
            <a:extLst>
              <a:ext uri="{FF2B5EF4-FFF2-40B4-BE49-F238E27FC236}">
                <a16:creationId xmlns:a16="http://schemas.microsoft.com/office/drawing/2014/main" id="{E532AAC0-E105-6D18-2AA6-0A5B5092E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6030" y="3069221"/>
            <a:ext cx="1399940" cy="1155859"/>
          </a:xfrm>
          <a:prstGeom prst="rect">
            <a:avLst/>
          </a:prstGeom>
        </p:spPr>
      </p:pic>
      <p:pic>
        <p:nvPicPr>
          <p:cNvPr id="6" name="図 5" descr="テキスト&#10;&#10;AI によって生成されたコンテンツは間違っている可能性があります。">
            <a:extLst>
              <a:ext uri="{FF2B5EF4-FFF2-40B4-BE49-F238E27FC236}">
                <a16:creationId xmlns:a16="http://schemas.microsoft.com/office/drawing/2014/main" id="{5B949514-E693-BF0F-EF52-DC44E9E96B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2966" y="3193937"/>
            <a:ext cx="911126" cy="906429"/>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D82BE423-3D74-FC6C-B0BA-933E40B29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5132" y="4411342"/>
            <a:ext cx="1399940" cy="1155859"/>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93EDE0EF-1DFF-9EBD-7F29-274A75EA9FAD}"/>
              </a:ext>
            </a:extLst>
          </p:cNvPr>
          <p:cNvPicPr>
            <a:picLocks noChangeAspect="1"/>
          </p:cNvPicPr>
          <p:nvPr/>
        </p:nvPicPr>
        <p:blipFill>
          <a:blip r:embed="rId5">
            <a:extLst>
              <a:ext uri="{28A0092B-C50C-407E-A947-70E740481C1C}">
                <a14:useLocalDpi xmlns:a14="http://schemas.microsoft.com/office/drawing/2010/main" val="0"/>
              </a:ext>
            </a:extLst>
          </a:blip>
          <a:srcRect l="56320" t="-1793" r="572" b="58913"/>
          <a:stretch/>
        </p:blipFill>
        <p:spPr>
          <a:xfrm>
            <a:off x="4494255" y="3972205"/>
            <a:ext cx="976680" cy="879450"/>
          </a:xfrm>
          <a:prstGeom prst="rect">
            <a:avLst/>
          </a:prstGeom>
        </p:spPr>
      </p:pic>
      <p:cxnSp>
        <p:nvCxnSpPr>
          <p:cNvPr id="12" name="コネクタ: 曲線 11">
            <a:extLst>
              <a:ext uri="{FF2B5EF4-FFF2-40B4-BE49-F238E27FC236}">
                <a16:creationId xmlns:a16="http://schemas.microsoft.com/office/drawing/2014/main" id="{302F8A66-9683-4BB5-817D-F2AC4D616F55}"/>
              </a:ext>
            </a:extLst>
          </p:cNvPr>
          <p:cNvCxnSpPr>
            <a:cxnSpLocks/>
            <a:stCxn id="5" idx="3"/>
            <a:endCxn id="6" idx="1"/>
          </p:cNvCxnSpPr>
          <p:nvPr/>
        </p:nvCxnSpPr>
        <p:spPr>
          <a:xfrm flipV="1">
            <a:off x="2126445" y="3647152"/>
            <a:ext cx="936521" cy="47905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4" name="コネクタ: 曲線 13">
            <a:extLst>
              <a:ext uri="{FF2B5EF4-FFF2-40B4-BE49-F238E27FC236}">
                <a16:creationId xmlns:a16="http://schemas.microsoft.com/office/drawing/2014/main" id="{D104BC59-B2A2-6686-E923-A1E16445AEFC}"/>
              </a:ext>
            </a:extLst>
          </p:cNvPr>
          <p:cNvCxnSpPr>
            <a:cxnSpLocks/>
            <a:stCxn id="6" idx="3"/>
            <a:endCxn id="8" idx="1"/>
          </p:cNvCxnSpPr>
          <p:nvPr/>
        </p:nvCxnSpPr>
        <p:spPr>
          <a:xfrm>
            <a:off x="3974092" y="3647152"/>
            <a:ext cx="861040" cy="134212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31" name="図 30" descr="挿絵 が含まれている画像&#10;&#10;AI によって生成されたコンテンツは間違っている可能性があります。">
            <a:extLst>
              <a:ext uri="{FF2B5EF4-FFF2-40B4-BE49-F238E27FC236}">
                <a16:creationId xmlns:a16="http://schemas.microsoft.com/office/drawing/2014/main" id="{3F427B5B-0C1C-DEDC-D538-8D59147C01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9159" y="3326043"/>
            <a:ext cx="1477415" cy="1312789"/>
          </a:xfrm>
          <a:prstGeom prst="rect">
            <a:avLst/>
          </a:prstGeom>
        </p:spPr>
      </p:pic>
      <p:cxnSp>
        <p:nvCxnSpPr>
          <p:cNvPr id="33" name="コネクタ: 曲線 32">
            <a:extLst>
              <a:ext uri="{FF2B5EF4-FFF2-40B4-BE49-F238E27FC236}">
                <a16:creationId xmlns:a16="http://schemas.microsoft.com/office/drawing/2014/main" id="{8315AEA1-1023-890B-FCE4-92045D3051D7}"/>
              </a:ext>
            </a:extLst>
          </p:cNvPr>
          <p:cNvCxnSpPr>
            <a:cxnSpLocks/>
            <a:stCxn id="31" idx="1"/>
            <a:endCxn id="8" idx="3"/>
          </p:cNvCxnSpPr>
          <p:nvPr/>
        </p:nvCxnSpPr>
        <p:spPr>
          <a:xfrm rot="10800000" flipV="1">
            <a:off x="6235073" y="3982438"/>
            <a:ext cx="2494087" cy="1006834"/>
          </a:xfrm>
          <a:prstGeom prst="curvedConnector3">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コネクタ: 曲線 35">
            <a:extLst>
              <a:ext uri="{FF2B5EF4-FFF2-40B4-BE49-F238E27FC236}">
                <a16:creationId xmlns:a16="http://schemas.microsoft.com/office/drawing/2014/main" id="{5672C8D9-427D-D14A-C602-737C30DE8CCA}"/>
              </a:ext>
            </a:extLst>
          </p:cNvPr>
          <p:cNvCxnSpPr>
            <a:stCxn id="31" idx="1"/>
            <a:endCxn id="7" idx="3"/>
          </p:cNvCxnSpPr>
          <p:nvPr/>
        </p:nvCxnSpPr>
        <p:spPr>
          <a:xfrm rot="10800000">
            <a:off x="6795971" y="3647152"/>
            <a:ext cx="1933189" cy="335287"/>
          </a:xfrm>
          <a:prstGeom prst="curvedConnector3">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楕円 36">
            <a:extLst>
              <a:ext uri="{FF2B5EF4-FFF2-40B4-BE49-F238E27FC236}">
                <a16:creationId xmlns:a16="http://schemas.microsoft.com/office/drawing/2014/main" id="{FABEA895-2396-9F1D-6392-379EB2008911}"/>
              </a:ext>
            </a:extLst>
          </p:cNvPr>
          <p:cNvSpPr/>
          <p:nvPr/>
        </p:nvSpPr>
        <p:spPr>
          <a:xfrm>
            <a:off x="5535102" y="5252018"/>
            <a:ext cx="2064776" cy="49898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a:t>gooogle.com</a:t>
            </a:r>
            <a:endParaRPr kumimoji="1" lang="ja-JP" altLang="en-US"/>
          </a:p>
        </p:txBody>
      </p:sp>
      <p:sp>
        <p:nvSpPr>
          <p:cNvPr id="38" name="楕円 37">
            <a:extLst>
              <a:ext uri="{FF2B5EF4-FFF2-40B4-BE49-F238E27FC236}">
                <a16:creationId xmlns:a16="http://schemas.microsoft.com/office/drawing/2014/main" id="{AB7874E1-BC51-CE41-72EA-F260E6B66717}"/>
              </a:ext>
            </a:extLst>
          </p:cNvPr>
          <p:cNvSpPr/>
          <p:nvPr/>
        </p:nvSpPr>
        <p:spPr>
          <a:xfrm>
            <a:off x="6096000" y="2805541"/>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google.com</a:t>
            </a:r>
            <a:endParaRPr kumimoji="1" lang="ja-JP" altLang="en-US"/>
          </a:p>
        </p:txBody>
      </p:sp>
      <p:cxnSp>
        <p:nvCxnSpPr>
          <p:cNvPr id="40" name="コネクタ: 曲線 39">
            <a:extLst>
              <a:ext uri="{FF2B5EF4-FFF2-40B4-BE49-F238E27FC236}">
                <a16:creationId xmlns:a16="http://schemas.microsoft.com/office/drawing/2014/main" id="{4E049A55-EC1A-B2D6-1E28-143229EE760B}"/>
              </a:ext>
            </a:extLst>
          </p:cNvPr>
          <p:cNvCxnSpPr>
            <a:stCxn id="8" idx="3"/>
            <a:endCxn id="31" idx="2"/>
          </p:cNvCxnSpPr>
          <p:nvPr/>
        </p:nvCxnSpPr>
        <p:spPr>
          <a:xfrm flipV="1">
            <a:off x="6235072" y="4638832"/>
            <a:ext cx="3232795" cy="350440"/>
          </a:xfrm>
          <a:prstGeom prst="curvedConnector2">
            <a:avLst/>
          </a:prstGeom>
          <a:ln>
            <a:tailEnd type="triangle"/>
          </a:ln>
        </p:spPr>
        <p:style>
          <a:lnRef idx="3">
            <a:schemeClr val="accent2"/>
          </a:lnRef>
          <a:fillRef idx="0">
            <a:schemeClr val="accent2"/>
          </a:fillRef>
          <a:effectRef idx="2">
            <a:schemeClr val="accent2"/>
          </a:effectRef>
          <a:fontRef idx="minor">
            <a:schemeClr val="tx1"/>
          </a:fontRef>
        </p:style>
      </p:cxnSp>
      <p:pic>
        <p:nvPicPr>
          <p:cNvPr id="41" name="図 40" descr="アイコン&#10;&#10;AI によって生成されたコンテンツは間違っている可能性があります。">
            <a:extLst>
              <a:ext uri="{FF2B5EF4-FFF2-40B4-BE49-F238E27FC236}">
                <a16:creationId xmlns:a16="http://schemas.microsoft.com/office/drawing/2014/main" id="{E615ABC5-1422-0232-4B5F-B396DDB9C782}"/>
              </a:ext>
            </a:extLst>
          </p:cNvPr>
          <p:cNvPicPr>
            <a:picLocks noChangeAspect="1"/>
          </p:cNvPicPr>
          <p:nvPr/>
        </p:nvPicPr>
        <p:blipFill>
          <a:blip r:embed="rId5">
            <a:extLst>
              <a:ext uri="{28A0092B-C50C-407E-A947-70E740481C1C}">
                <a14:useLocalDpi xmlns:a14="http://schemas.microsoft.com/office/drawing/2010/main" val="0"/>
              </a:ext>
            </a:extLst>
          </a:blip>
          <a:srcRect l="56320" t="-1793" r="572" b="58913"/>
          <a:stretch/>
        </p:blipFill>
        <p:spPr>
          <a:xfrm>
            <a:off x="7950046" y="4674293"/>
            <a:ext cx="699604" cy="629957"/>
          </a:xfrm>
          <a:prstGeom prst="rect">
            <a:avLst/>
          </a:prstGeom>
        </p:spPr>
      </p:pic>
    </p:spTree>
    <p:extLst>
      <p:ext uri="{BB962C8B-B14F-4D97-AF65-F5344CB8AC3E}">
        <p14:creationId xmlns:p14="http://schemas.microsoft.com/office/powerpoint/2010/main" val="1288831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4DFC-C2EE-1BE8-F8DB-8D94D629C3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4B41CA-CCCF-95DB-9516-6282CD45CE2C}"/>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E202030A-7682-75D1-9DDB-937F0ADDE725}"/>
              </a:ext>
            </a:extLst>
          </p:cNvPr>
          <p:cNvSpPr>
            <a:spLocks noGrp="1"/>
          </p:cNvSpPr>
          <p:nvPr>
            <p:ph sz="half" idx="1"/>
          </p:nvPr>
        </p:nvSpPr>
        <p:spPr>
          <a:xfrm>
            <a:off x="838200" y="1825625"/>
            <a:ext cx="10515600" cy="4351338"/>
          </a:xfrm>
        </p:spPr>
        <p:txBody>
          <a:bodyPr>
            <a:normAutofit/>
          </a:bodyPr>
          <a:lstStyle/>
          <a:p>
            <a:r>
              <a:rPr lang="ja-JP" altLang="en-US" sz="2800">
                <a:solidFill>
                  <a:srgbClr val="111111"/>
                </a:solidFill>
                <a:latin typeface="Roboto" panose="02000000000000000000" pitchFamily="2" charset="0"/>
              </a:rPr>
              <a:t>電子メール</a:t>
            </a:r>
            <a:r>
              <a:rPr lang="ja-JP" altLang="en-US" sz="2800" b="0" i="0">
                <a:solidFill>
                  <a:srgbClr val="111111"/>
                </a:solidFill>
                <a:effectLst/>
                <a:latin typeface="Roboto" panose="02000000000000000000" pitchFamily="2" charset="0"/>
              </a:rPr>
              <a:t>タイポスクワッティング</a:t>
            </a:r>
            <a:endParaRPr kumimoji="1" lang="en-US" altLang="ja-JP" sz="2800"/>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7BC3E210-67A9-6A71-A87D-061C7F0B4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1" y="3429000"/>
            <a:ext cx="1480714" cy="1394414"/>
          </a:xfrm>
          <a:prstGeom prst="rect">
            <a:avLst/>
          </a:prstGeom>
        </p:spPr>
      </p:pic>
      <p:pic>
        <p:nvPicPr>
          <p:cNvPr id="6" name="図 5" descr="テキスト&#10;&#10;AI によって生成されたコンテンツは間違っている可能性があります。">
            <a:extLst>
              <a:ext uri="{FF2B5EF4-FFF2-40B4-BE49-F238E27FC236}">
                <a16:creationId xmlns:a16="http://schemas.microsoft.com/office/drawing/2014/main" id="{10774AF2-EA4F-D371-297B-FF71D30A54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2976" y="3076008"/>
            <a:ext cx="911126" cy="906429"/>
          </a:xfrm>
          <a:prstGeom prst="rect">
            <a:avLst/>
          </a:prstGeom>
        </p:spPr>
      </p:pic>
      <p:cxnSp>
        <p:nvCxnSpPr>
          <p:cNvPr id="12" name="コネクタ: 曲線 11">
            <a:extLst>
              <a:ext uri="{FF2B5EF4-FFF2-40B4-BE49-F238E27FC236}">
                <a16:creationId xmlns:a16="http://schemas.microsoft.com/office/drawing/2014/main" id="{59684647-5FDB-BAA1-BC62-E8BA1D197635}"/>
              </a:ext>
            </a:extLst>
          </p:cNvPr>
          <p:cNvCxnSpPr>
            <a:cxnSpLocks/>
            <a:stCxn id="5" idx="3"/>
            <a:endCxn id="6" idx="1"/>
          </p:cNvCxnSpPr>
          <p:nvPr/>
        </p:nvCxnSpPr>
        <p:spPr>
          <a:xfrm flipV="1">
            <a:off x="2126445" y="3529223"/>
            <a:ext cx="776531" cy="596984"/>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4" name="コネクタ: 曲線 13">
            <a:extLst>
              <a:ext uri="{FF2B5EF4-FFF2-40B4-BE49-F238E27FC236}">
                <a16:creationId xmlns:a16="http://schemas.microsoft.com/office/drawing/2014/main" id="{4F2BD020-3BB7-0BAF-AFC6-ED74F481A83E}"/>
              </a:ext>
            </a:extLst>
          </p:cNvPr>
          <p:cNvCxnSpPr>
            <a:cxnSpLocks/>
            <a:stCxn id="6" idx="3"/>
            <a:endCxn id="21" idx="1"/>
          </p:cNvCxnSpPr>
          <p:nvPr/>
        </p:nvCxnSpPr>
        <p:spPr>
          <a:xfrm>
            <a:off x="3814102" y="3529223"/>
            <a:ext cx="1367143" cy="1569214"/>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13" name="図 12" descr="障子, 建物, 挿絵, ウィンドウ が含まれている画像&#10;&#10;AI によって生成されたコンテンツは間違っている可能性があります。">
            <a:extLst>
              <a:ext uri="{FF2B5EF4-FFF2-40B4-BE49-F238E27FC236}">
                <a16:creationId xmlns:a16="http://schemas.microsoft.com/office/drawing/2014/main" id="{E00CC747-F47E-82B2-2782-805FC84405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5581" y="3186031"/>
            <a:ext cx="1740027" cy="940176"/>
          </a:xfrm>
          <a:prstGeom prst="rect">
            <a:avLst/>
          </a:prstGeom>
        </p:spPr>
      </p:pic>
      <p:pic>
        <p:nvPicPr>
          <p:cNvPr id="16" name="図 15" descr="アイコン が含まれている画像&#10;&#10;AI によって生成されたコンテンツは間違っている可能性があります。">
            <a:extLst>
              <a:ext uri="{FF2B5EF4-FFF2-40B4-BE49-F238E27FC236}">
                <a16:creationId xmlns:a16="http://schemas.microsoft.com/office/drawing/2014/main" id="{B68A8E08-5031-F806-C19E-3A452AD753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5763" y="3003962"/>
            <a:ext cx="1586230" cy="775980"/>
          </a:xfrm>
          <a:prstGeom prst="rect">
            <a:avLst/>
          </a:prstGeom>
        </p:spPr>
      </p:pic>
      <p:pic>
        <p:nvPicPr>
          <p:cNvPr id="18" name="図 17" descr="アイコン&#10;&#10;AI によって生成されたコンテンツは間違っている可能性があります。">
            <a:extLst>
              <a:ext uri="{FF2B5EF4-FFF2-40B4-BE49-F238E27FC236}">
                <a16:creationId xmlns:a16="http://schemas.microsoft.com/office/drawing/2014/main" id="{CF62E8AF-A30B-D508-9D03-303D2386A4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5594" y="3325133"/>
            <a:ext cx="1470747" cy="1268289"/>
          </a:xfrm>
          <a:prstGeom prst="rect">
            <a:avLst/>
          </a:prstGeom>
        </p:spPr>
      </p:pic>
      <p:pic>
        <p:nvPicPr>
          <p:cNvPr id="21" name="図 20" descr="アイコン が含まれている画像&#10;&#10;AI によって生成されたコンテンツは間違っている可能性があります。">
            <a:extLst>
              <a:ext uri="{FF2B5EF4-FFF2-40B4-BE49-F238E27FC236}">
                <a16:creationId xmlns:a16="http://schemas.microsoft.com/office/drawing/2014/main" id="{7F5678AD-8006-F321-4389-71B05A84B6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245" y="4695265"/>
            <a:ext cx="1648298" cy="806344"/>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0AB5DAB2-A80B-A269-984D-9F7E92993461}"/>
              </a:ext>
            </a:extLst>
          </p:cNvPr>
          <p:cNvPicPr>
            <a:picLocks noChangeAspect="1"/>
          </p:cNvPicPr>
          <p:nvPr/>
        </p:nvPicPr>
        <p:blipFill>
          <a:blip r:embed="rId7">
            <a:extLst>
              <a:ext uri="{28A0092B-C50C-407E-A947-70E740481C1C}">
                <a14:useLocalDpi xmlns:a14="http://schemas.microsoft.com/office/drawing/2010/main" val="0"/>
              </a:ext>
            </a:extLst>
          </a:blip>
          <a:srcRect l="56320" t="-1793" r="572" b="58913"/>
          <a:stretch/>
        </p:blipFill>
        <p:spPr>
          <a:xfrm>
            <a:off x="4987040" y="4430265"/>
            <a:ext cx="895492" cy="806344"/>
          </a:xfrm>
          <a:prstGeom prst="rect">
            <a:avLst/>
          </a:prstGeom>
        </p:spPr>
      </p:pic>
      <p:cxnSp>
        <p:nvCxnSpPr>
          <p:cNvPr id="24" name="コネクタ: 曲線 23">
            <a:extLst>
              <a:ext uri="{FF2B5EF4-FFF2-40B4-BE49-F238E27FC236}">
                <a16:creationId xmlns:a16="http://schemas.microsoft.com/office/drawing/2014/main" id="{78C65E48-384E-E423-ACDB-4C61CE1580BB}"/>
              </a:ext>
            </a:extLst>
          </p:cNvPr>
          <p:cNvCxnSpPr>
            <a:stCxn id="18" idx="1"/>
            <a:endCxn id="16" idx="3"/>
          </p:cNvCxnSpPr>
          <p:nvPr/>
        </p:nvCxnSpPr>
        <p:spPr>
          <a:xfrm rot="10800000">
            <a:off x="6671994" y="3391952"/>
            <a:ext cx="2833601" cy="567326"/>
          </a:xfrm>
          <a:prstGeom prst="curvedConnector3">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コネクタ: 曲線 25">
            <a:extLst>
              <a:ext uri="{FF2B5EF4-FFF2-40B4-BE49-F238E27FC236}">
                <a16:creationId xmlns:a16="http://schemas.microsoft.com/office/drawing/2014/main" id="{D41CAF35-718D-524D-5055-F6010B24D94E}"/>
              </a:ext>
            </a:extLst>
          </p:cNvPr>
          <p:cNvCxnSpPr>
            <a:endCxn id="21" idx="3"/>
          </p:cNvCxnSpPr>
          <p:nvPr/>
        </p:nvCxnSpPr>
        <p:spPr>
          <a:xfrm rot="10800000" flipV="1">
            <a:off x="6829544" y="4456353"/>
            <a:ext cx="2629207" cy="642083"/>
          </a:xfrm>
          <a:prstGeom prst="curved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37" name="楕円 36">
            <a:extLst>
              <a:ext uri="{FF2B5EF4-FFF2-40B4-BE49-F238E27FC236}">
                <a16:creationId xmlns:a16="http://schemas.microsoft.com/office/drawing/2014/main" id="{05E4587E-4F66-0E48-356A-3048B6C88690}"/>
              </a:ext>
            </a:extLst>
          </p:cNvPr>
          <p:cNvSpPr/>
          <p:nvPr/>
        </p:nvSpPr>
        <p:spPr>
          <a:xfrm>
            <a:off x="5010690" y="5273983"/>
            <a:ext cx="2064776" cy="49898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a:t>@gmai.com</a:t>
            </a:r>
            <a:endParaRPr kumimoji="1" lang="ja-JP" altLang="en-US"/>
          </a:p>
        </p:txBody>
      </p:sp>
      <p:sp>
        <p:nvSpPr>
          <p:cNvPr id="38" name="楕円 37">
            <a:extLst>
              <a:ext uri="{FF2B5EF4-FFF2-40B4-BE49-F238E27FC236}">
                <a16:creationId xmlns:a16="http://schemas.microsoft.com/office/drawing/2014/main" id="{6B48FEA5-B459-3021-8613-9DEAEF31DB4F}"/>
              </a:ext>
            </a:extLst>
          </p:cNvPr>
          <p:cNvSpPr/>
          <p:nvPr/>
        </p:nvSpPr>
        <p:spPr>
          <a:xfrm>
            <a:off x="4867059" y="2802670"/>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@gmail.com</a:t>
            </a:r>
            <a:endParaRPr kumimoji="1" lang="ja-JP" altLang="en-US"/>
          </a:p>
        </p:txBody>
      </p:sp>
      <p:sp>
        <p:nvSpPr>
          <p:cNvPr id="29" name="四角形: 角を丸くする 28">
            <a:extLst>
              <a:ext uri="{FF2B5EF4-FFF2-40B4-BE49-F238E27FC236}">
                <a16:creationId xmlns:a16="http://schemas.microsoft.com/office/drawing/2014/main" id="{B5978739-78D1-8D28-2C73-1D5ACF9F8DE9}"/>
              </a:ext>
            </a:extLst>
          </p:cNvPr>
          <p:cNvSpPr/>
          <p:nvPr/>
        </p:nvSpPr>
        <p:spPr>
          <a:xfrm>
            <a:off x="8754393" y="4695265"/>
            <a:ext cx="1608002" cy="1077705"/>
          </a:xfrm>
          <a:prstGeom prst="roundRect">
            <a:avLst/>
          </a:prstGeom>
          <a:solidFill>
            <a:schemeClr val="tx2">
              <a:lumMod val="60000"/>
              <a:lumOff val="40000"/>
            </a:schemeClr>
          </a:solidFill>
        </p:spPr>
        <p:style>
          <a:lnRef idx="3">
            <a:schemeClr val="lt1"/>
          </a:lnRef>
          <a:fillRef idx="1">
            <a:schemeClr val="accent3"/>
          </a:fillRef>
          <a:effectRef idx="1">
            <a:schemeClr val="accent3"/>
          </a:effectRef>
          <a:fontRef idx="minor">
            <a:schemeClr val="lt1"/>
          </a:fontRef>
        </p:style>
        <p:txBody>
          <a:bodyPr rtlCol="0" anchor="ctr"/>
          <a:lstStyle/>
          <a:p>
            <a:r>
              <a:rPr lang="en-US" altLang="ja-JP" sz="1200">
                <a:solidFill>
                  <a:schemeClr val="bg1"/>
                </a:solidFill>
              </a:rPr>
              <a:t> @ gmai.com</a:t>
            </a:r>
            <a:endParaRPr kumimoji="1" lang="en-US" altLang="ja-JP" sz="1200">
              <a:solidFill>
                <a:schemeClr val="bg1"/>
              </a:solidFill>
            </a:endParaRPr>
          </a:p>
          <a:p>
            <a:endParaRPr lang="en-US" altLang="ja-JP" sz="1200">
              <a:solidFill>
                <a:schemeClr val="bg1"/>
              </a:solidFill>
            </a:endParaRPr>
          </a:p>
          <a:p>
            <a:r>
              <a:rPr lang="ja-JP" altLang="en-US" sz="1200">
                <a:solidFill>
                  <a:schemeClr val="bg1"/>
                </a:solidFill>
              </a:rPr>
              <a:t>・</a:t>
            </a:r>
            <a:r>
              <a:rPr kumimoji="1" lang="ja-JP" altLang="en-US" sz="1200">
                <a:solidFill>
                  <a:schemeClr val="bg1"/>
                </a:solidFill>
              </a:rPr>
              <a:t>ユーザー名</a:t>
            </a:r>
            <a:endParaRPr kumimoji="1" lang="en-US" altLang="ja-JP" sz="1200">
              <a:solidFill>
                <a:schemeClr val="bg1"/>
              </a:solidFill>
            </a:endParaRPr>
          </a:p>
          <a:p>
            <a:r>
              <a:rPr lang="ja-JP" altLang="en-US" sz="1200">
                <a:solidFill>
                  <a:schemeClr val="bg1"/>
                </a:solidFill>
              </a:rPr>
              <a:t>・パスワード</a:t>
            </a:r>
            <a:endParaRPr kumimoji="1" lang="ja-JP" altLang="en-US" sz="1200">
              <a:solidFill>
                <a:schemeClr val="bg1"/>
              </a:solidFill>
            </a:endParaRPr>
          </a:p>
        </p:txBody>
      </p:sp>
      <p:cxnSp>
        <p:nvCxnSpPr>
          <p:cNvPr id="34" name="直線矢印コネクタ 33">
            <a:extLst>
              <a:ext uri="{FF2B5EF4-FFF2-40B4-BE49-F238E27FC236}">
                <a16:creationId xmlns:a16="http://schemas.microsoft.com/office/drawing/2014/main" id="{5BE0E96F-A879-665E-8D31-411933973F96}"/>
              </a:ext>
            </a:extLst>
          </p:cNvPr>
          <p:cNvCxnSpPr>
            <a:cxnSpLocks/>
            <a:stCxn id="21" idx="0"/>
          </p:cNvCxnSpPr>
          <p:nvPr/>
        </p:nvCxnSpPr>
        <p:spPr>
          <a:xfrm flipH="1" flipV="1">
            <a:off x="5919757" y="3806317"/>
            <a:ext cx="85637" cy="8889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39" name="図 38" descr="図形&#10;&#10;AI によって生成されたコンテンツは間違っている可能性があります。">
            <a:extLst>
              <a:ext uri="{FF2B5EF4-FFF2-40B4-BE49-F238E27FC236}">
                <a16:creationId xmlns:a16="http://schemas.microsoft.com/office/drawing/2014/main" id="{D716404C-93C0-E278-ABE0-7CA3CD85B0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97104" y="3949541"/>
            <a:ext cx="841520" cy="534877"/>
          </a:xfrm>
          <a:prstGeom prst="rect">
            <a:avLst/>
          </a:prstGeom>
        </p:spPr>
      </p:pic>
      <p:pic>
        <p:nvPicPr>
          <p:cNvPr id="42" name="図 41" descr="図形&#10;&#10;AI によって生成されたコンテンツは間違っている可能性があります。">
            <a:extLst>
              <a:ext uri="{FF2B5EF4-FFF2-40B4-BE49-F238E27FC236}">
                <a16:creationId xmlns:a16="http://schemas.microsoft.com/office/drawing/2014/main" id="{9E554885-60AA-A7BC-C519-A15164E6A6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77067" y="3206267"/>
            <a:ext cx="841520" cy="534877"/>
          </a:xfrm>
          <a:prstGeom prst="rect">
            <a:avLst/>
          </a:prstGeom>
        </p:spPr>
      </p:pic>
      <p:pic>
        <p:nvPicPr>
          <p:cNvPr id="43" name="図 42" descr="図形&#10;&#10;AI によって生成されたコンテンツは間違っている可能性があります。">
            <a:extLst>
              <a:ext uri="{FF2B5EF4-FFF2-40B4-BE49-F238E27FC236}">
                <a16:creationId xmlns:a16="http://schemas.microsoft.com/office/drawing/2014/main" id="{A256A198-6F93-328C-F4E2-555ACC3451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42268" y="4484418"/>
            <a:ext cx="841520" cy="534877"/>
          </a:xfrm>
          <a:prstGeom prst="rect">
            <a:avLst/>
          </a:prstGeom>
        </p:spPr>
      </p:pic>
    </p:spTree>
    <p:extLst>
      <p:ext uri="{BB962C8B-B14F-4D97-AF65-F5344CB8AC3E}">
        <p14:creationId xmlns:p14="http://schemas.microsoft.com/office/powerpoint/2010/main" val="3750017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11A9-4453-DBA8-92BE-96536D8917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E336EC-A20B-F66F-E880-E7D605B58A30}"/>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D9D748D4-0D43-49DB-1D4F-B09988A40140}"/>
              </a:ext>
            </a:extLst>
          </p:cNvPr>
          <p:cNvSpPr>
            <a:spLocks noGrp="1"/>
          </p:cNvSpPr>
          <p:nvPr>
            <p:ph sz="half" idx="1"/>
          </p:nvPr>
        </p:nvSpPr>
        <p:spPr>
          <a:xfrm>
            <a:off x="838200" y="1825625"/>
            <a:ext cx="10515600" cy="4351338"/>
          </a:xfrm>
        </p:spPr>
        <p:txBody>
          <a:bodyPr>
            <a:normAutofit/>
          </a:bodyPr>
          <a:lstStyle/>
          <a:p>
            <a:r>
              <a:rPr lang="ja-JP" altLang="en-US" sz="2800" dirty="0"/>
              <a:t>個人情報漏洩（・フィッシング）に繋がる</a:t>
            </a:r>
            <a:endParaRPr lang="en-US" altLang="ja-JP" sz="2800" dirty="0"/>
          </a:p>
          <a:p>
            <a:pPr marL="0" indent="0">
              <a:buNone/>
            </a:pPr>
            <a:endParaRPr kumimoji="1" lang="en-US" altLang="ja-JP" sz="1200" dirty="0"/>
          </a:p>
          <a:p>
            <a:pPr marL="0" indent="0">
              <a:buNone/>
            </a:pPr>
            <a:r>
              <a:rPr kumimoji="1" lang="ja-JP" altLang="en-US" sz="2400" dirty="0"/>
              <a:t>・現在、</a:t>
            </a:r>
            <a:r>
              <a:rPr kumimoji="1" lang="en-US" altLang="ja-JP" sz="2400" dirty="0"/>
              <a:t>teams</a:t>
            </a:r>
            <a:r>
              <a:rPr kumimoji="1" lang="ja-JP" altLang="en-US" sz="2400" dirty="0"/>
              <a:t>など、ビジネスチャットの導入が進んでいるが、他社への連絡にはメールを使っているところが多い</a:t>
            </a:r>
          </a:p>
          <a:p>
            <a:pPr marL="0" indent="0">
              <a:buNone/>
            </a:pPr>
            <a:r>
              <a:rPr kumimoji="1" lang="ja-JP" altLang="en-US" sz="2400" dirty="0"/>
              <a:t>・</a:t>
            </a:r>
            <a:r>
              <a:rPr kumimoji="1" lang="en-US" altLang="ja-JP" sz="2400" dirty="0"/>
              <a:t>2019</a:t>
            </a:r>
            <a:r>
              <a:rPr kumimoji="1" lang="ja-JP" altLang="en-US" sz="2400" dirty="0"/>
              <a:t>年度に報告された個人情報に関する事故のうち、</a:t>
            </a:r>
            <a:r>
              <a:rPr kumimoji="1" lang="en-US" altLang="ja-JP" sz="2400" dirty="0"/>
              <a:t>23.2</a:t>
            </a:r>
            <a:r>
              <a:rPr kumimoji="1" lang="ja-JP" altLang="en-US" sz="2400" dirty="0"/>
              <a:t>％の</a:t>
            </a:r>
            <a:r>
              <a:rPr kumimoji="1" lang="en-US" altLang="ja-JP" sz="2400" dirty="0"/>
              <a:t>590</a:t>
            </a:r>
            <a:r>
              <a:rPr kumimoji="1" lang="ja-JP" altLang="en-US" sz="2400" dirty="0"/>
              <a:t>件がメール誤送信による</a:t>
            </a:r>
            <a:r>
              <a:rPr lang="ja-JP" altLang="en-US" sz="2400" dirty="0"/>
              <a:t>事故</a:t>
            </a:r>
            <a:endParaRPr kumimoji="1" lang="en-US" altLang="ja-JP" sz="2800" dirty="0"/>
          </a:p>
          <a:p>
            <a:pPr marL="0" indent="0">
              <a:buNone/>
            </a:pPr>
            <a:r>
              <a:rPr lang="ja-JP" altLang="en-US" sz="1600" dirty="0">
                <a:solidFill>
                  <a:schemeClr val="tx1">
                    <a:lumMod val="50000"/>
                    <a:lumOff val="50000"/>
                  </a:schemeClr>
                </a:solidFill>
              </a:rPr>
              <a:t>（参考：</a:t>
            </a:r>
            <a:r>
              <a:rPr lang="en-US" altLang="ja-JP" sz="16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https://xtech.nikkei.com/atcl/nxt/column/18/00676/041700076/</a:t>
            </a:r>
            <a:r>
              <a:rPr lang="ja-JP" altLang="en-US" sz="1600" dirty="0">
                <a:solidFill>
                  <a:schemeClr val="tx1">
                    <a:lumMod val="50000"/>
                    <a:lumOff val="50000"/>
                  </a:schemeClr>
                </a:solidFill>
              </a:rPr>
              <a:t> ）</a:t>
            </a:r>
            <a:endParaRPr lang="en-US" altLang="ja-JP" sz="1600" dirty="0">
              <a:solidFill>
                <a:schemeClr val="tx1">
                  <a:lumMod val="50000"/>
                  <a:lumOff val="50000"/>
                </a:schemeClr>
              </a:solidFill>
            </a:endParaRPr>
          </a:p>
          <a:p>
            <a:pPr marL="0" indent="0">
              <a:buNone/>
            </a:pPr>
            <a:r>
              <a:rPr lang="ja-JP" altLang="en-US" sz="2400" dirty="0"/>
              <a:t>・ある有名企業のドッペルゲンガードメインを複数取得し、メールサーバを設置したところ、半年で</a:t>
            </a:r>
            <a:r>
              <a:rPr lang="en-US" altLang="ja-JP" sz="2400" dirty="0"/>
              <a:t>12</a:t>
            </a:r>
            <a:r>
              <a:rPr lang="ja-JP" altLang="en-US" sz="2400" dirty="0"/>
              <a:t>万通、</a:t>
            </a:r>
            <a:r>
              <a:rPr lang="en-US" altLang="ja-JP" sz="2400" dirty="0"/>
              <a:t>20G</a:t>
            </a:r>
            <a:r>
              <a:rPr lang="ja-JP" altLang="en-US" sz="2400" dirty="0"/>
              <a:t>バイトものメールを取得することができたという実験結果がある</a:t>
            </a:r>
            <a:endParaRPr lang="en-US" altLang="ja-JP" sz="2400" dirty="0"/>
          </a:p>
          <a:p>
            <a:pPr marL="0" indent="0">
              <a:buNone/>
            </a:pPr>
            <a:r>
              <a:rPr lang="ja-JP" altLang="en-US" sz="1600" dirty="0">
                <a:solidFill>
                  <a:schemeClr val="tx1">
                    <a:lumMod val="50000"/>
                    <a:lumOff val="50000"/>
                  </a:schemeClr>
                </a:solidFill>
              </a:rPr>
              <a:t>（参考：</a:t>
            </a:r>
            <a:r>
              <a:rPr lang="en-US" altLang="ja-JP" sz="1600" dirty="0">
                <a:solidFill>
                  <a:schemeClr val="tx1">
                    <a:lumMod val="50000"/>
                    <a:lumOff val="50000"/>
                  </a:schemeClr>
                </a:solidFill>
                <a:hlinkClick r:id="rId3">
                  <a:extLst>
                    <a:ext uri="{A12FA001-AC4F-418D-AE19-62706E023703}">
                      <ahyp:hlinkClr xmlns:ahyp="http://schemas.microsoft.com/office/drawing/2018/hyperlinkcolor" val="tx"/>
                    </a:ext>
                  </a:extLst>
                </a:hlinkClick>
              </a:rPr>
              <a:t>https://www.wired.com/2011/09/doppelganger-domains/?utm_source</a:t>
            </a:r>
            <a:r>
              <a:rPr lang="ja-JP" altLang="en-US" sz="1600" dirty="0">
                <a:solidFill>
                  <a:schemeClr val="tx1">
                    <a:lumMod val="50000"/>
                    <a:lumOff val="50000"/>
                  </a:schemeClr>
                </a:solidFill>
              </a:rPr>
              <a:t> ）</a:t>
            </a:r>
            <a:endParaRPr lang="en-US" altLang="ja-JP" sz="1600" dirty="0">
              <a:solidFill>
                <a:schemeClr val="tx1">
                  <a:lumMod val="50000"/>
                  <a:lumOff val="50000"/>
                </a:schemeClr>
              </a:solidFill>
            </a:endParaRPr>
          </a:p>
          <a:p>
            <a:pPr marL="0" indent="0">
              <a:buNone/>
            </a:pPr>
            <a:endParaRPr lang="en-US" altLang="ja-JP" sz="2400" dirty="0"/>
          </a:p>
        </p:txBody>
      </p:sp>
    </p:spTree>
    <p:extLst>
      <p:ext uri="{BB962C8B-B14F-4D97-AF65-F5344CB8AC3E}">
        <p14:creationId xmlns:p14="http://schemas.microsoft.com/office/powerpoint/2010/main" val="107749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8E5B-ACAF-1495-0D00-0CF69E1FEB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CC78AD-F352-7D31-C6F1-F2E9008F5493}"/>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153D6503-AD1F-928A-FBA4-6CFCFD5169D7}"/>
              </a:ext>
            </a:extLst>
          </p:cNvPr>
          <p:cNvSpPr>
            <a:spLocks noGrp="1"/>
          </p:cNvSpPr>
          <p:nvPr>
            <p:ph sz="half" idx="1"/>
          </p:nvPr>
        </p:nvSpPr>
        <p:spPr>
          <a:xfrm>
            <a:off x="838200" y="1825625"/>
            <a:ext cx="10515600" cy="4351338"/>
          </a:xfrm>
        </p:spPr>
        <p:txBody>
          <a:bodyPr>
            <a:normAutofit/>
          </a:bodyPr>
          <a:lstStyle/>
          <a:p>
            <a:r>
              <a:rPr kumimoji="1" lang="ja-JP" altLang="en-US" sz="2800" dirty="0"/>
              <a:t>タイポによる被害例</a:t>
            </a:r>
            <a:endParaRPr kumimoji="1" lang="en-US" altLang="ja-JP" sz="2800" dirty="0"/>
          </a:p>
          <a:p>
            <a:pPr marL="0" indent="0">
              <a:buNone/>
            </a:pPr>
            <a:r>
              <a:rPr lang="ja-JP" altLang="en-US" sz="2000" dirty="0"/>
              <a:t>新潟県　</a:t>
            </a:r>
            <a:r>
              <a:rPr lang="en-US" altLang="ja-JP" sz="2000" dirty="0"/>
              <a:t>@gmail.com</a:t>
            </a:r>
          </a:p>
          <a:p>
            <a:pPr marL="0" indent="0">
              <a:buNone/>
            </a:pPr>
            <a:r>
              <a:rPr lang="ja-JP" altLang="en-US" sz="2000" dirty="0"/>
              <a:t>→</a:t>
            </a:r>
            <a:r>
              <a:rPr lang="en-US" altLang="ja-JP" sz="2000" dirty="0"/>
              <a:t>@gmai.com</a:t>
            </a:r>
            <a:r>
              <a:rPr lang="ja-JP" altLang="en-US" sz="2000" dirty="0"/>
              <a:t>（</a:t>
            </a:r>
            <a:r>
              <a:rPr lang="en-US" altLang="ja-JP" sz="2000" dirty="0"/>
              <a:t>l</a:t>
            </a:r>
            <a:r>
              <a:rPr lang="ja-JP" altLang="en-US" sz="2000" dirty="0"/>
              <a:t>抜け）</a:t>
            </a:r>
            <a:endParaRPr lang="en-US" altLang="ja-JP" sz="2000" dirty="0"/>
          </a:p>
          <a:p>
            <a:pPr marL="0" indent="0">
              <a:buNone/>
            </a:pPr>
            <a:r>
              <a:rPr kumimoji="1" lang="ja-JP" altLang="en-US" sz="2000" dirty="0"/>
              <a:t>　</a:t>
            </a:r>
            <a:r>
              <a:rPr kumimoji="1" lang="en-US" altLang="ja-JP" sz="2000" dirty="0"/>
              <a:t>@gmeil.com</a:t>
            </a:r>
            <a:r>
              <a:rPr kumimoji="1" lang="ja-JP" altLang="en-US" sz="2000" dirty="0"/>
              <a:t>（</a:t>
            </a:r>
            <a:r>
              <a:rPr kumimoji="1" lang="en-US" altLang="ja-JP" sz="2000" dirty="0"/>
              <a:t>a</a:t>
            </a:r>
            <a:r>
              <a:rPr kumimoji="1" lang="ja-JP" altLang="en-US" sz="2000" dirty="0"/>
              <a:t>→</a:t>
            </a:r>
            <a:r>
              <a:rPr kumimoji="1" lang="en-US" altLang="ja-JP" sz="2000" dirty="0"/>
              <a:t>e </a:t>
            </a:r>
            <a:r>
              <a:rPr kumimoji="1" lang="ja-JP" altLang="en-US" sz="2000" dirty="0"/>
              <a:t>スペルミス）</a:t>
            </a:r>
            <a:endParaRPr kumimoji="1" lang="en-US" altLang="ja-JP" sz="2000" dirty="0"/>
          </a:p>
          <a:p>
            <a:pPr marL="0" indent="0">
              <a:buNone/>
            </a:pPr>
            <a:endParaRPr kumimoji="1" lang="en-US" altLang="ja-JP" sz="2400" dirty="0"/>
          </a:p>
        </p:txBody>
      </p:sp>
      <p:pic>
        <p:nvPicPr>
          <p:cNvPr id="10" name="図 9">
            <a:extLst>
              <a:ext uri="{FF2B5EF4-FFF2-40B4-BE49-F238E27FC236}">
                <a16:creationId xmlns:a16="http://schemas.microsoft.com/office/drawing/2014/main" id="{AC1A58C0-0F2D-6A7E-439B-E613E12D670F}"/>
              </a:ext>
            </a:extLst>
          </p:cNvPr>
          <p:cNvPicPr>
            <a:picLocks noChangeAspect="1"/>
          </p:cNvPicPr>
          <p:nvPr/>
        </p:nvPicPr>
        <p:blipFill>
          <a:blip r:embed="rId2"/>
          <a:stretch>
            <a:fillRect/>
          </a:stretch>
        </p:blipFill>
        <p:spPr>
          <a:xfrm>
            <a:off x="6379028" y="1506368"/>
            <a:ext cx="4561469" cy="4670595"/>
          </a:xfrm>
          <a:prstGeom prst="rect">
            <a:avLst/>
          </a:prstGeom>
        </p:spPr>
      </p:pic>
      <p:pic>
        <p:nvPicPr>
          <p:cNvPr id="5" name="図 4">
            <a:extLst>
              <a:ext uri="{FF2B5EF4-FFF2-40B4-BE49-F238E27FC236}">
                <a16:creationId xmlns:a16="http://schemas.microsoft.com/office/drawing/2014/main" id="{06444122-E196-CC45-F088-A941A00313DF}"/>
              </a:ext>
            </a:extLst>
          </p:cNvPr>
          <p:cNvPicPr>
            <a:picLocks noChangeAspect="1"/>
          </p:cNvPicPr>
          <p:nvPr/>
        </p:nvPicPr>
        <p:blipFill>
          <a:blip r:embed="rId3"/>
          <a:stretch>
            <a:fillRect/>
          </a:stretch>
        </p:blipFill>
        <p:spPr>
          <a:xfrm>
            <a:off x="838200" y="3627714"/>
            <a:ext cx="6625148" cy="2530859"/>
          </a:xfrm>
          <a:prstGeom prst="rect">
            <a:avLst/>
          </a:prstGeom>
        </p:spPr>
      </p:pic>
    </p:spTree>
    <p:extLst>
      <p:ext uri="{BB962C8B-B14F-4D97-AF65-F5344CB8AC3E}">
        <p14:creationId xmlns:p14="http://schemas.microsoft.com/office/powerpoint/2010/main" val="408530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57F87-5182-99B3-1944-9ABD1D9C79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E1B05A-9897-740A-41F0-E63027D67321}"/>
              </a:ext>
            </a:extLst>
          </p:cNvPr>
          <p:cNvSpPr>
            <a:spLocks noGrp="1"/>
          </p:cNvSpPr>
          <p:nvPr>
            <p:ph type="title"/>
          </p:nvPr>
        </p:nvSpPr>
        <p:spPr/>
        <p:txBody>
          <a:bodyPr/>
          <a:lstStyle/>
          <a:p>
            <a:r>
              <a:rPr kumimoji="1" lang="ja-JP" altLang="en-US"/>
              <a:t>研究</a:t>
            </a:r>
            <a:r>
              <a:rPr lang="ja-JP" altLang="en-US"/>
              <a:t>目的</a:t>
            </a:r>
            <a:endParaRPr kumimoji="1" lang="ja-JP" altLang="en-US"/>
          </a:p>
        </p:txBody>
      </p:sp>
      <p:sp>
        <p:nvSpPr>
          <p:cNvPr id="3" name="コンテンツ プレースホルダー 2">
            <a:extLst>
              <a:ext uri="{FF2B5EF4-FFF2-40B4-BE49-F238E27FC236}">
                <a16:creationId xmlns:a16="http://schemas.microsoft.com/office/drawing/2014/main" id="{8A4ABB70-F304-4592-6386-E6CAE628BFE1}"/>
              </a:ext>
            </a:extLst>
          </p:cNvPr>
          <p:cNvSpPr>
            <a:spLocks noGrp="1"/>
          </p:cNvSpPr>
          <p:nvPr>
            <p:ph sz="half" idx="1"/>
          </p:nvPr>
        </p:nvSpPr>
        <p:spPr>
          <a:xfrm>
            <a:off x="838200" y="1825625"/>
            <a:ext cx="10515600" cy="4351338"/>
          </a:xfrm>
        </p:spPr>
        <p:txBody>
          <a:bodyPr>
            <a:normAutofit/>
          </a:bodyPr>
          <a:lstStyle/>
          <a:p>
            <a:r>
              <a:rPr lang="ja-JP" altLang="en-US" sz="2800">
                <a:solidFill>
                  <a:srgbClr val="111111"/>
                </a:solidFill>
                <a:latin typeface="Roboto" panose="02000000000000000000" pitchFamily="2" charset="0"/>
              </a:rPr>
              <a:t>ドメインの防御的登録</a:t>
            </a:r>
            <a:endParaRPr kumimoji="1" lang="en-US" altLang="ja-JP" sz="2800"/>
          </a:p>
        </p:txBody>
      </p:sp>
      <p:cxnSp>
        <p:nvCxnSpPr>
          <p:cNvPr id="14" name="コネクタ: 曲線 13">
            <a:extLst>
              <a:ext uri="{FF2B5EF4-FFF2-40B4-BE49-F238E27FC236}">
                <a16:creationId xmlns:a16="http://schemas.microsoft.com/office/drawing/2014/main" id="{819B3D22-CFC0-5344-1F4B-5C48D46C2A8B}"/>
              </a:ext>
            </a:extLst>
          </p:cNvPr>
          <p:cNvCxnSpPr>
            <a:cxnSpLocks/>
            <a:stCxn id="16" idx="1"/>
          </p:cNvCxnSpPr>
          <p:nvPr/>
        </p:nvCxnSpPr>
        <p:spPr>
          <a:xfrm rot="10800000" flipH="1" flipV="1">
            <a:off x="3099647" y="3214971"/>
            <a:ext cx="95482" cy="1706485"/>
          </a:xfrm>
          <a:prstGeom prst="curvedConnector3">
            <a:avLst>
              <a:gd name="adj1" fmla="val -239417"/>
            </a:avLst>
          </a:prstGeom>
          <a:ln>
            <a:tailEnd type="triangle"/>
          </a:ln>
        </p:spPr>
        <p:style>
          <a:lnRef idx="3">
            <a:schemeClr val="dk1"/>
          </a:lnRef>
          <a:fillRef idx="0">
            <a:schemeClr val="dk1"/>
          </a:fillRef>
          <a:effectRef idx="2">
            <a:schemeClr val="dk1"/>
          </a:effectRef>
          <a:fontRef idx="minor">
            <a:schemeClr val="tx1"/>
          </a:fontRef>
        </p:style>
      </p:cxnSp>
      <p:pic>
        <p:nvPicPr>
          <p:cNvPr id="13" name="図 12" descr="障子, 建物, 挿絵, ウィンドウ が含まれている画像&#10;&#10;AI によって生成されたコンテンツは間違っている可能性があります。">
            <a:extLst>
              <a:ext uri="{FF2B5EF4-FFF2-40B4-BE49-F238E27FC236}">
                <a16:creationId xmlns:a16="http://schemas.microsoft.com/office/drawing/2014/main" id="{AEE5FC04-2B09-6EDB-B334-B30A99282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9465" y="3009051"/>
            <a:ext cx="1740027" cy="940176"/>
          </a:xfrm>
          <a:prstGeom prst="rect">
            <a:avLst/>
          </a:prstGeom>
        </p:spPr>
      </p:pic>
      <p:pic>
        <p:nvPicPr>
          <p:cNvPr id="16" name="図 15" descr="アイコン が含まれている画像&#10;&#10;AI によって生成されたコンテンツは間違っている可能性があります。">
            <a:extLst>
              <a:ext uri="{FF2B5EF4-FFF2-40B4-BE49-F238E27FC236}">
                <a16:creationId xmlns:a16="http://schemas.microsoft.com/office/drawing/2014/main" id="{1E85FAA6-AAF1-C15B-55B1-763F5E969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9647" y="2826982"/>
            <a:ext cx="1586230" cy="775980"/>
          </a:xfrm>
          <a:prstGeom prst="rect">
            <a:avLst/>
          </a:prstGeom>
        </p:spPr>
      </p:pic>
      <p:pic>
        <p:nvPicPr>
          <p:cNvPr id="18" name="図 17" descr="アイコン&#10;&#10;AI によって生成されたコンテンツは間違っている可能性があります。">
            <a:extLst>
              <a:ext uri="{FF2B5EF4-FFF2-40B4-BE49-F238E27FC236}">
                <a16:creationId xmlns:a16="http://schemas.microsoft.com/office/drawing/2014/main" id="{A0B4ACE3-B06A-394F-C5D1-3BAB32C71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9478" y="3148153"/>
            <a:ext cx="1470747" cy="1268289"/>
          </a:xfrm>
          <a:prstGeom prst="rect">
            <a:avLst/>
          </a:prstGeom>
        </p:spPr>
      </p:pic>
      <p:cxnSp>
        <p:nvCxnSpPr>
          <p:cNvPr id="26" name="コネクタ: 曲線 25">
            <a:extLst>
              <a:ext uri="{FF2B5EF4-FFF2-40B4-BE49-F238E27FC236}">
                <a16:creationId xmlns:a16="http://schemas.microsoft.com/office/drawing/2014/main" id="{C637A7AE-88F1-1D51-3DE6-AD6B1083F44B}"/>
              </a:ext>
            </a:extLst>
          </p:cNvPr>
          <p:cNvCxnSpPr>
            <a:cxnSpLocks/>
          </p:cNvCxnSpPr>
          <p:nvPr/>
        </p:nvCxnSpPr>
        <p:spPr>
          <a:xfrm rot="10800000" flipV="1">
            <a:off x="4843428" y="4279373"/>
            <a:ext cx="2629207" cy="642083"/>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38" name="楕円 37">
            <a:extLst>
              <a:ext uri="{FF2B5EF4-FFF2-40B4-BE49-F238E27FC236}">
                <a16:creationId xmlns:a16="http://schemas.microsoft.com/office/drawing/2014/main" id="{2AD70D1A-8651-20AF-1BAD-CE53CB044B37}"/>
              </a:ext>
            </a:extLst>
          </p:cNvPr>
          <p:cNvSpPr/>
          <p:nvPr/>
        </p:nvSpPr>
        <p:spPr>
          <a:xfrm>
            <a:off x="2880943" y="2625690"/>
            <a:ext cx="2064776" cy="49898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@gmail.com</a:t>
            </a:r>
            <a:endParaRPr kumimoji="1" lang="ja-JP" altLang="en-US"/>
          </a:p>
        </p:txBody>
      </p:sp>
      <p:sp>
        <p:nvSpPr>
          <p:cNvPr id="29" name="四角形: 角を丸くする 28">
            <a:extLst>
              <a:ext uri="{FF2B5EF4-FFF2-40B4-BE49-F238E27FC236}">
                <a16:creationId xmlns:a16="http://schemas.microsoft.com/office/drawing/2014/main" id="{5E68EF02-E0A3-68BA-2A80-23A2CC32B16E}"/>
              </a:ext>
            </a:extLst>
          </p:cNvPr>
          <p:cNvSpPr/>
          <p:nvPr/>
        </p:nvSpPr>
        <p:spPr>
          <a:xfrm>
            <a:off x="7226710" y="4636409"/>
            <a:ext cx="1648298" cy="1135127"/>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r>
              <a:rPr lang="en-US" altLang="ja-JP" sz="1400">
                <a:solidFill>
                  <a:schemeClr val="bg1"/>
                </a:solidFill>
              </a:rPr>
              <a:t> @ gmai.com</a:t>
            </a:r>
            <a:endParaRPr kumimoji="1" lang="en-US" altLang="ja-JP" sz="1400">
              <a:solidFill>
                <a:schemeClr val="bg1"/>
              </a:solidFill>
            </a:endParaRPr>
          </a:p>
          <a:p>
            <a:endParaRPr lang="en-US" altLang="ja-JP" sz="1400">
              <a:solidFill>
                <a:schemeClr val="bg1"/>
              </a:solidFill>
            </a:endParaRPr>
          </a:p>
          <a:p>
            <a:r>
              <a:rPr lang="ja-JP" altLang="en-US" sz="1400">
                <a:solidFill>
                  <a:schemeClr val="bg1"/>
                </a:solidFill>
              </a:rPr>
              <a:t>・</a:t>
            </a:r>
            <a:r>
              <a:rPr kumimoji="1" lang="ja-JP" altLang="en-US" sz="1400">
                <a:solidFill>
                  <a:schemeClr val="bg1"/>
                </a:solidFill>
              </a:rPr>
              <a:t>ユーザー名</a:t>
            </a:r>
            <a:endParaRPr kumimoji="1" lang="en-US" altLang="ja-JP" sz="1400">
              <a:solidFill>
                <a:schemeClr val="bg1"/>
              </a:solidFill>
            </a:endParaRPr>
          </a:p>
          <a:p>
            <a:r>
              <a:rPr lang="ja-JP" altLang="en-US" sz="1400">
                <a:solidFill>
                  <a:schemeClr val="bg1"/>
                </a:solidFill>
              </a:rPr>
              <a:t>・パスワード</a:t>
            </a:r>
            <a:endParaRPr kumimoji="1" lang="ja-JP" altLang="en-US" sz="1400">
              <a:solidFill>
                <a:schemeClr val="bg1"/>
              </a:solidFill>
            </a:endParaRPr>
          </a:p>
        </p:txBody>
      </p:sp>
      <p:pic>
        <p:nvPicPr>
          <p:cNvPr id="43" name="図 42" descr="図形&#10;&#10;AI によって生成されたコンテンツは間違っている可能性があります。">
            <a:extLst>
              <a:ext uri="{FF2B5EF4-FFF2-40B4-BE49-F238E27FC236}">
                <a16:creationId xmlns:a16="http://schemas.microsoft.com/office/drawing/2014/main" id="{90321ACC-74F6-75A4-C2E4-5DFB154F47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56152" y="4307438"/>
            <a:ext cx="841520" cy="534877"/>
          </a:xfrm>
          <a:prstGeom prst="rect">
            <a:avLst/>
          </a:prstGeom>
        </p:spPr>
      </p:pic>
      <p:sp>
        <p:nvSpPr>
          <p:cNvPr id="4" name="楕円 3">
            <a:extLst>
              <a:ext uri="{FF2B5EF4-FFF2-40B4-BE49-F238E27FC236}">
                <a16:creationId xmlns:a16="http://schemas.microsoft.com/office/drawing/2014/main" id="{BDE0BA01-F241-D4C5-656D-FBA792A6A6D5}"/>
              </a:ext>
            </a:extLst>
          </p:cNvPr>
          <p:cNvSpPr/>
          <p:nvPr/>
        </p:nvSpPr>
        <p:spPr>
          <a:xfrm>
            <a:off x="2937905" y="4784620"/>
            <a:ext cx="2064776" cy="95657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ja-JP"/>
              <a:t>@gmai.com</a:t>
            </a:r>
          </a:p>
          <a:p>
            <a:pPr algn="ctr"/>
            <a:r>
              <a:rPr lang="en-US" altLang="ja-JP"/>
              <a:t>@gmail.co</a:t>
            </a:r>
            <a:endParaRPr kumimoji="1" lang="ja-JP" altLang="en-US"/>
          </a:p>
        </p:txBody>
      </p:sp>
      <p:pic>
        <p:nvPicPr>
          <p:cNvPr id="6" name="図 5" descr="テキスト&#10;&#10;AI によって生成されたコンテンツは間違っている可能性があります。">
            <a:extLst>
              <a:ext uri="{FF2B5EF4-FFF2-40B4-BE49-F238E27FC236}">
                <a16:creationId xmlns:a16="http://schemas.microsoft.com/office/drawing/2014/main" id="{A75E1AD7-2EE5-5195-65BD-04F8FE25C7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0088" y="3666007"/>
            <a:ext cx="856694" cy="852278"/>
          </a:xfrm>
          <a:prstGeom prst="rect">
            <a:avLst/>
          </a:prstGeom>
        </p:spPr>
      </p:pic>
      <p:cxnSp>
        <p:nvCxnSpPr>
          <p:cNvPr id="9" name="コネクタ: 曲線 8">
            <a:extLst>
              <a:ext uri="{FF2B5EF4-FFF2-40B4-BE49-F238E27FC236}">
                <a16:creationId xmlns:a16="http://schemas.microsoft.com/office/drawing/2014/main" id="{16FF3393-6DC7-D8A6-69F2-64E4A065D7E4}"/>
              </a:ext>
            </a:extLst>
          </p:cNvPr>
          <p:cNvCxnSpPr>
            <a:stCxn id="13" idx="1"/>
            <a:endCxn id="16" idx="3"/>
          </p:cNvCxnSpPr>
          <p:nvPr/>
        </p:nvCxnSpPr>
        <p:spPr>
          <a:xfrm rot="10800000">
            <a:off x="4685877" y="3214973"/>
            <a:ext cx="1963588" cy="264167"/>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pic>
        <p:nvPicPr>
          <p:cNvPr id="42" name="図 41" descr="図形&#10;&#10;AI によって生成されたコンテンツは間違っている可能性があります。">
            <a:extLst>
              <a:ext uri="{FF2B5EF4-FFF2-40B4-BE49-F238E27FC236}">
                <a16:creationId xmlns:a16="http://schemas.microsoft.com/office/drawing/2014/main" id="{71BAE10F-2B53-562A-A3A3-74DD4135B3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90951" y="3029287"/>
            <a:ext cx="841520" cy="534877"/>
          </a:xfrm>
          <a:prstGeom prst="rect">
            <a:avLst/>
          </a:prstGeom>
        </p:spPr>
      </p:pic>
    </p:spTree>
    <p:extLst>
      <p:ext uri="{BB962C8B-B14F-4D97-AF65-F5344CB8AC3E}">
        <p14:creationId xmlns:p14="http://schemas.microsoft.com/office/powerpoint/2010/main" val="4022153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75493-FE64-3491-3C21-5AEDDA8F23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E776F8-5F47-89B1-867D-567178815A64}"/>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EE07B974-B432-FB23-D78A-BFF7CEA11A2E}"/>
              </a:ext>
            </a:extLst>
          </p:cNvPr>
          <p:cNvSpPr>
            <a:spLocks noGrp="1"/>
          </p:cNvSpPr>
          <p:nvPr>
            <p:ph sz="half" idx="1"/>
          </p:nvPr>
        </p:nvSpPr>
        <p:spPr>
          <a:xfrm>
            <a:off x="838198" y="1825625"/>
            <a:ext cx="10907488" cy="4351338"/>
          </a:xfrm>
        </p:spPr>
        <p:txBody>
          <a:bodyPr>
            <a:normAutofit/>
          </a:bodyPr>
          <a:lstStyle/>
          <a:p>
            <a:pPr marL="0" indent="0">
              <a:lnSpc>
                <a:spcPct val="100000"/>
              </a:lnSpc>
              <a:buNone/>
            </a:pPr>
            <a:r>
              <a:rPr kumimoji="1" lang="ja-JP" altLang="en-US" sz="3200" dirty="0"/>
              <a:t>１．タイプミスされたドメインのデータを収集</a:t>
            </a:r>
            <a:endParaRPr kumimoji="1" lang="en-US" altLang="ja-JP" sz="3200" dirty="0"/>
          </a:p>
          <a:p>
            <a:pPr marL="0" indent="0">
              <a:lnSpc>
                <a:spcPct val="100000"/>
              </a:lnSpc>
              <a:buNone/>
            </a:pPr>
            <a:r>
              <a:rPr kumimoji="1" lang="ja-JP" altLang="en-US" sz="3200" dirty="0"/>
              <a:t>２．データからタイプミスを抽出し、原因を分析</a:t>
            </a:r>
            <a:endParaRPr lang="en-US" altLang="ja-JP" sz="3200" dirty="0"/>
          </a:p>
          <a:p>
            <a:pPr marL="0" indent="0">
              <a:lnSpc>
                <a:spcPct val="100000"/>
              </a:lnSpc>
              <a:buNone/>
            </a:pPr>
            <a:r>
              <a:rPr kumimoji="1" lang="ja-JP" altLang="en-US" sz="3200" dirty="0"/>
              <a:t>３．発生確率で重みづけ</a:t>
            </a:r>
            <a:r>
              <a:rPr kumimoji="1" lang="ja-JP" altLang="en-US" sz="3200" dirty="0">
                <a:solidFill>
                  <a:srgbClr val="FF0000"/>
                </a:solidFill>
              </a:rPr>
              <a:t>（現在）</a:t>
            </a:r>
            <a:endParaRPr kumimoji="1" lang="en-US" altLang="ja-JP" sz="3200" dirty="0">
              <a:solidFill>
                <a:srgbClr val="FF0000"/>
              </a:solidFill>
            </a:endParaRPr>
          </a:p>
          <a:p>
            <a:pPr marL="0" indent="0">
              <a:lnSpc>
                <a:spcPct val="100000"/>
              </a:lnSpc>
              <a:buNone/>
            </a:pPr>
            <a:r>
              <a:rPr lang="ja-JP" altLang="en-US" sz="3200" dirty="0"/>
              <a:t>４</a:t>
            </a:r>
            <a:r>
              <a:rPr kumimoji="1" lang="ja-JP" altLang="en-US" sz="3200" dirty="0"/>
              <a:t>．スコアに応じてランキング化したものを表示</a:t>
            </a:r>
            <a:r>
              <a:rPr lang="ja-JP" altLang="en-US" sz="3200" dirty="0">
                <a:solidFill>
                  <a:srgbClr val="FF0000"/>
                </a:solidFill>
              </a:rPr>
              <a:t>（現在）</a:t>
            </a:r>
            <a:endParaRPr kumimoji="1" lang="en-US" altLang="ja-JP" sz="3200" dirty="0"/>
          </a:p>
          <a:p>
            <a:pPr marL="0" indent="0">
              <a:lnSpc>
                <a:spcPct val="100000"/>
              </a:lnSpc>
              <a:buNone/>
            </a:pPr>
            <a:r>
              <a:rPr lang="ja-JP" altLang="en-US" sz="3200" dirty="0"/>
              <a:t>（＝ミスの</a:t>
            </a:r>
            <a:r>
              <a:rPr kumimoji="1" lang="ja-JP" altLang="en-US" sz="3200" dirty="0"/>
              <a:t>傾向に基づいて防御的ドメイン登録を提案）</a:t>
            </a:r>
            <a:endParaRPr kumimoji="1" lang="en-US" altLang="ja-JP" sz="3200" dirty="0"/>
          </a:p>
        </p:txBody>
      </p:sp>
    </p:spTree>
    <p:extLst>
      <p:ext uri="{BB962C8B-B14F-4D97-AF65-F5344CB8AC3E}">
        <p14:creationId xmlns:p14="http://schemas.microsoft.com/office/powerpoint/2010/main" val="3912877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5A39D-621A-E9EF-7B34-0AF77CF96C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EB06C71-CE72-225F-7F6C-FFFDD90A3089}"/>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BB160A48-D6B1-2A69-5DBF-586D5BCBD169}"/>
              </a:ext>
            </a:extLst>
          </p:cNvPr>
          <p:cNvSpPr>
            <a:spLocks noGrp="1"/>
          </p:cNvSpPr>
          <p:nvPr>
            <p:ph sz="half" idx="1"/>
          </p:nvPr>
        </p:nvSpPr>
        <p:spPr>
          <a:xfrm>
            <a:off x="838198" y="1825625"/>
            <a:ext cx="11353801" cy="4351338"/>
          </a:xfrm>
        </p:spPr>
        <p:txBody>
          <a:bodyPr>
            <a:normAutofit/>
          </a:bodyPr>
          <a:lstStyle/>
          <a:p>
            <a:pPr marL="0" indent="0">
              <a:lnSpc>
                <a:spcPct val="100000"/>
              </a:lnSpc>
              <a:buNone/>
            </a:pPr>
            <a:r>
              <a:rPr kumimoji="1" lang="ja-JP" altLang="en-US" sz="3200" dirty="0"/>
              <a:t>１．タイプミスされたドメインのデータを収集</a:t>
            </a:r>
            <a:endParaRPr kumimoji="1" lang="en-US" altLang="ja-JP" sz="3200" dirty="0"/>
          </a:p>
        </p:txBody>
      </p:sp>
      <p:pic>
        <p:nvPicPr>
          <p:cNvPr id="5" name="図 4">
            <a:extLst>
              <a:ext uri="{FF2B5EF4-FFF2-40B4-BE49-F238E27FC236}">
                <a16:creationId xmlns:a16="http://schemas.microsoft.com/office/drawing/2014/main" id="{FBDF1FE8-F2EE-0A73-E727-7EAFE7494B54}"/>
              </a:ext>
            </a:extLst>
          </p:cNvPr>
          <p:cNvPicPr>
            <a:picLocks noChangeAspect="1"/>
          </p:cNvPicPr>
          <p:nvPr/>
        </p:nvPicPr>
        <p:blipFill>
          <a:blip r:embed="rId2"/>
          <a:srcRect t="1934" r="28790"/>
          <a:stretch>
            <a:fillRect/>
          </a:stretch>
        </p:blipFill>
        <p:spPr>
          <a:xfrm>
            <a:off x="1275691" y="2496640"/>
            <a:ext cx="6505532" cy="3531304"/>
          </a:xfrm>
          <a:prstGeom prst="rect">
            <a:avLst/>
          </a:prstGeom>
        </p:spPr>
      </p:pic>
    </p:spTree>
    <p:extLst>
      <p:ext uri="{BB962C8B-B14F-4D97-AF65-F5344CB8AC3E}">
        <p14:creationId xmlns:p14="http://schemas.microsoft.com/office/powerpoint/2010/main" val="4263833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DF97-2AE3-FD40-A0D1-78A23EDB5A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973D2F-47DB-B751-CE1F-41CF5F5D245E}"/>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07B933B9-2683-5BF9-EBB2-B2C1F9F21F6B}"/>
              </a:ext>
            </a:extLst>
          </p:cNvPr>
          <p:cNvSpPr>
            <a:spLocks noGrp="1"/>
          </p:cNvSpPr>
          <p:nvPr>
            <p:ph sz="half" idx="1"/>
          </p:nvPr>
        </p:nvSpPr>
        <p:spPr>
          <a:xfrm>
            <a:off x="838198" y="1825625"/>
            <a:ext cx="11353801" cy="4351338"/>
          </a:xfrm>
        </p:spPr>
        <p:txBody>
          <a:bodyPr>
            <a:normAutofit/>
          </a:bodyPr>
          <a:lstStyle/>
          <a:p>
            <a:pPr marL="0" indent="0">
              <a:lnSpc>
                <a:spcPct val="100000"/>
              </a:lnSpc>
              <a:buNone/>
            </a:pPr>
            <a:r>
              <a:rPr kumimoji="1" lang="ja-JP" altLang="en-US" sz="3200" dirty="0"/>
              <a:t>２．データからタイプミスを抽出し、原因を分析</a:t>
            </a:r>
            <a:endParaRPr lang="en-US" altLang="ja-JP" sz="3200" dirty="0"/>
          </a:p>
        </p:txBody>
      </p:sp>
      <p:pic>
        <p:nvPicPr>
          <p:cNvPr id="5" name="図 4">
            <a:extLst>
              <a:ext uri="{FF2B5EF4-FFF2-40B4-BE49-F238E27FC236}">
                <a16:creationId xmlns:a16="http://schemas.microsoft.com/office/drawing/2014/main" id="{7F391F3A-8200-0711-E6A4-46C29AC53567}"/>
              </a:ext>
            </a:extLst>
          </p:cNvPr>
          <p:cNvPicPr>
            <a:picLocks noChangeAspect="1"/>
          </p:cNvPicPr>
          <p:nvPr/>
        </p:nvPicPr>
        <p:blipFill>
          <a:blip r:embed="rId2"/>
          <a:srcRect b="15828"/>
          <a:stretch>
            <a:fillRect/>
          </a:stretch>
        </p:blipFill>
        <p:spPr>
          <a:xfrm>
            <a:off x="838198" y="2493911"/>
            <a:ext cx="10840963" cy="3351718"/>
          </a:xfrm>
          <a:prstGeom prst="rect">
            <a:avLst/>
          </a:prstGeom>
        </p:spPr>
      </p:pic>
    </p:spTree>
    <p:extLst>
      <p:ext uri="{BB962C8B-B14F-4D97-AF65-F5344CB8AC3E}">
        <p14:creationId xmlns:p14="http://schemas.microsoft.com/office/powerpoint/2010/main" val="2554860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DC28-400F-34E2-E561-814970CF23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D9B619-BB05-F71B-51EE-D53F68DED6FB}"/>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87444859-B710-468F-6CD0-582172970534}"/>
              </a:ext>
            </a:extLst>
          </p:cNvPr>
          <p:cNvSpPr>
            <a:spLocks noGrp="1"/>
          </p:cNvSpPr>
          <p:nvPr>
            <p:ph sz="half" idx="1"/>
          </p:nvPr>
        </p:nvSpPr>
        <p:spPr>
          <a:xfrm>
            <a:off x="838198" y="1825625"/>
            <a:ext cx="11353801" cy="4351338"/>
          </a:xfrm>
        </p:spPr>
        <p:txBody>
          <a:bodyPr>
            <a:normAutofit/>
          </a:bodyPr>
          <a:lstStyle/>
          <a:p>
            <a:pPr marL="0" indent="0">
              <a:lnSpc>
                <a:spcPct val="100000"/>
              </a:lnSpc>
              <a:buNone/>
            </a:pPr>
            <a:r>
              <a:rPr kumimoji="1" lang="ja-JP" altLang="en-US" sz="3200" dirty="0"/>
              <a:t>３．原因別に発生確率で重みづけ</a:t>
            </a:r>
            <a:r>
              <a:rPr kumimoji="1" lang="ja-JP" altLang="en-US" sz="3200" dirty="0">
                <a:solidFill>
                  <a:srgbClr val="FF0000"/>
                </a:solidFill>
              </a:rPr>
              <a:t>（現在）</a:t>
            </a:r>
            <a:endParaRPr kumimoji="1" lang="en-US" altLang="ja-JP" sz="3200" dirty="0">
              <a:solidFill>
                <a:srgbClr val="FF0000"/>
              </a:solidFill>
            </a:endParaRPr>
          </a:p>
        </p:txBody>
      </p:sp>
      <p:pic>
        <p:nvPicPr>
          <p:cNvPr id="5" name="図 4">
            <a:extLst>
              <a:ext uri="{FF2B5EF4-FFF2-40B4-BE49-F238E27FC236}">
                <a16:creationId xmlns:a16="http://schemas.microsoft.com/office/drawing/2014/main" id="{E0EE647E-9371-C625-709B-ABA2FBB1B7F9}"/>
              </a:ext>
            </a:extLst>
          </p:cNvPr>
          <p:cNvPicPr>
            <a:picLocks noChangeAspect="1"/>
          </p:cNvPicPr>
          <p:nvPr/>
        </p:nvPicPr>
        <p:blipFill>
          <a:blip r:embed="rId2"/>
          <a:srcRect t="4945"/>
          <a:stretch>
            <a:fillRect/>
          </a:stretch>
        </p:blipFill>
        <p:spPr>
          <a:xfrm>
            <a:off x="1535096" y="2544422"/>
            <a:ext cx="2705478" cy="3169336"/>
          </a:xfrm>
          <a:prstGeom prst="rect">
            <a:avLst/>
          </a:prstGeom>
        </p:spPr>
      </p:pic>
      <p:pic>
        <p:nvPicPr>
          <p:cNvPr id="7" name="図 6">
            <a:extLst>
              <a:ext uri="{FF2B5EF4-FFF2-40B4-BE49-F238E27FC236}">
                <a16:creationId xmlns:a16="http://schemas.microsoft.com/office/drawing/2014/main" id="{A0C28BD3-1A40-44B2-52D4-9B105CB64C3E}"/>
              </a:ext>
            </a:extLst>
          </p:cNvPr>
          <p:cNvPicPr>
            <a:picLocks noChangeAspect="1"/>
          </p:cNvPicPr>
          <p:nvPr/>
        </p:nvPicPr>
        <p:blipFill>
          <a:blip r:embed="rId3"/>
          <a:stretch>
            <a:fillRect/>
          </a:stretch>
        </p:blipFill>
        <p:spPr>
          <a:xfrm>
            <a:off x="4240574" y="2544422"/>
            <a:ext cx="6296904" cy="3724795"/>
          </a:xfrm>
          <a:prstGeom prst="rect">
            <a:avLst/>
          </a:prstGeom>
        </p:spPr>
      </p:pic>
    </p:spTree>
    <p:extLst>
      <p:ext uri="{BB962C8B-B14F-4D97-AF65-F5344CB8AC3E}">
        <p14:creationId xmlns:p14="http://schemas.microsoft.com/office/powerpoint/2010/main" val="22660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D0B08-C191-8BD6-DCA3-0CE059E00C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24F0F5-5ABE-22A8-DCB4-57BCA1B47138}"/>
              </a:ext>
            </a:extLst>
          </p:cNvPr>
          <p:cNvSpPr>
            <a:spLocks noGrp="1"/>
          </p:cNvSpPr>
          <p:nvPr>
            <p:ph type="title"/>
          </p:nvPr>
        </p:nvSpPr>
        <p:spPr/>
        <p:txBody>
          <a:bodyPr/>
          <a:lstStyle/>
          <a:p>
            <a:r>
              <a:rPr kumimoji="1" lang="ja-JP" altLang="en-US"/>
              <a:t>研究方法・流れ</a:t>
            </a:r>
          </a:p>
        </p:txBody>
      </p:sp>
      <p:sp>
        <p:nvSpPr>
          <p:cNvPr id="3" name="コンテンツ プレースホルダー 2">
            <a:extLst>
              <a:ext uri="{FF2B5EF4-FFF2-40B4-BE49-F238E27FC236}">
                <a16:creationId xmlns:a16="http://schemas.microsoft.com/office/drawing/2014/main" id="{DD649060-4D7F-5C87-FCAE-538645349184}"/>
              </a:ext>
            </a:extLst>
          </p:cNvPr>
          <p:cNvSpPr>
            <a:spLocks noGrp="1"/>
          </p:cNvSpPr>
          <p:nvPr>
            <p:ph sz="half" idx="1"/>
          </p:nvPr>
        </p:nvSpPr>
        <p:spPr>
          <a:xfrm>
            <a:off x="838198" y="1825625"/>
            <a:ext cx="10907488" cy="4351338"/>
          </a:xfrm>
        </p:spPr>
        <p:txBody>
          <a:bodyPr>
            <a:normAutofit/>
          </a:bodyPr>
          <a:lstStyle/>
          <a:p>
            <a:pPr marL="0" indent="0">
              <a:lnSpc>
                <a:spcPct val="100000"/>
              </a:lnSpc>
              <a:buNone/>
            </a:pPr>
            <a:r>
              <a:rPr lang="ja-JP" altLang="en-US" sz="3200" dirty="0"/>
              <a:t>４</a:t>
            </a:r>
            <a:r>
              <a:rPr kumimoji="1" lang="ja-JP" altLang="en-US" sz="3200" dirty="0"/>
              <a:t>．スコアに応じてランキング化したものを表示</a:t>
            </a:r>
            <a:r>
              <a:rPr lang="ja-JP" altLang="en-US" sz="3200" dirty="0">
                <a:solidFill>
                  <a:srgbClr val="FF0000"/>
                </a:solidFill>
              </a:rPr>
              <a:t>（現在）</a:t>
            </a:r>
            <a:endParaRPr kumimoji="1" lang="en-US" altLang="ja-JP" sz="3200" dirty="0"/>
          </a:p>
          <a:p>
            <a:pPr marL="0" indent="0">
              <a:lnSpc>
                <a:spcPct val="100000"/>
              </a:lnSpc>
              <a:buNone/>
            </a:pPr>
            <a:r>
              <a:rPr lang="ja-JP" altLang="en-US" sz="3200" dirty="0"/>
              <a:t>（＝ミスの</a:t>
            </a:r>
            <a:r>
              <a:rPr kumimoji="1" lang="ja-JP" altLang="en-US" sz="3200" dirty="0"/>
              <a:t>傾向に基づいて防御的ドメイン登録を提案）</a:t>
            </a:r>
            <a:endParaRPr kumimoji="1" lang="en-US" altLang="ja-JP" sz="3200" dirty="0"/>
          </a:p>
        </p:txBody>
      </p:sp>
      <p:pic>
        <p:nvPicPr>
          <p:cNvPr id="5" name="図 4">
            <a:extLst>
              <a:ext uri="{FF2B5EF4-FFF2-40B4-BE49-F238E27FC236}">
                <a16:creationId xmlns:a16="http://schemas.microsoft.com/office/drawing/2014/main" id="{08A800EC-19AF-3BAF-DAF8-B996FA1F8C5F}"/>
              </a:ext>
            </a:extLst>
          </p:cNvPr>
          <p:cNvPicPr>
            <a:picLocks noChangeAspect="1"/>
          </p:cNvPicPr>
          <p:nvPr/>
        </p:nvPicPr>
        <p:blipFill>
          <a:blip r:embed="rId2"/>
          <a:srcRect b="46929"/>
          <a:stretch>
            <a:fillRect/>
          </a:stretch>
        </p:blipFill>
        <p:spPr>
          <a:xfrm>
            <a:off x="1086829" y="3240768"/>
            <a:ext cx="5468113" cy="2659289"/>
          </a:xfrm>
          <a:prstGeom prst="rect">
            <a:avLst/>
          </a:prstGeom>
        </p:spPr>
      </p:pic>
    </p:spTree>
    <p:extLst>
      <p:ext uri="{BB962C8B-B14F-4D97-AF65-F5344CB8AC3E}">
        <p14:creationId xmlns:p14="http://schemas.microsoft.com/office/powerpoint/2010/main" val="2753418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DA23B-B5A9-1DA4-6BC6-A182851F59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B0FCE-543F-D76E-63E2-0F27555D116E}"/>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4D88C6BF-7E2A-FE4F-90DB-015EBADA4BB5}"/>
              </a:ext>
            </a:extLst>
          </p:cNvPr>
          <p:cNvSpPr>
            <a:spLocks noGrp="1"/>
          </p:cNvSpPr>
          <p:nvPr>
            <p:ph sz="half" idx="1"/>
          </p:nvPr>
        </p:nvSpPr>
        <p:spPr>
          <a:xfrm>
            <a:off x="838200" y="1825624"/>
            <a:ext cx="10515600" cy="4788535"/>
          </a:xfrm>
        </p:spPr>
        <p:txBody>
          <a:bodyPr>
            <a:normAutofit/>
          </a:bodyPr>
          <a:lstStyle/>
          <a:p>
            <a:pPr marL="0" indent="0">
              <a:lnSpc>
                <a:spcPct val="100000"/>
              </a:lnSpc>
              <a:buNone/>
            </a:pPr>
            <a:r>
              <a:rPr lang="ja-JP" altLang="en-US" sz="3200" dirty="0"/>
              <a:t>１．ランキングをより確かなものにする</a:t>
            </a:r>
            <a:endParaRPr kumimoji="1" lang="en-US" altLang="ja-JP" sz="3200" dirty="0"/>
          </a:p>
          <a:p>
            <a:pPr marL="0" indent="0">
              <a:lnSpc>
                <a:spcPct val="100000"/>
              </a:lnSpc>
              <a:buNone/>
            </a:pPr>
            <a:r>
              <a:rPr lang="ja-JP" altLang="en-US" sz="3200" dirty="0"/>
              <a:t>２．防御的登録を優先的に抑えるべきタイポドメインを表示できるサイトを作成</a:t>
            </a:r>
            <a:endParaRPr kumimoji="1" lang="en-US" altLang="ja-JP" sz="2400" dirty="0"/>
          </a:p>
        </p:txBody>
      </p:sp>
    </p:spTree>
    <p:extLst>
      <p:ext uri="{BB962C8B-B14F-4D97-AF65-F5344CB8AC3E}">
        <p14:creationId xmlns:p14="http://schemas.microsoft.com/office/powerpoint/2010/main" val="1000564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F43B-AC85-1D67-D077-E2B1AA373E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F90DD0-04F6-374D-FD62-C4ECDA8A2348}"/>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5D58467C-26D8-599D-4608-071CB7BD9EBB}"/>
              </a:ext>
            </a:extLst>
          </p:cNvPr>
          <p:cNvSpPr>
            <a:spLocks noGrp="1"/>
          </p:cNvSpPr>
          <p:nvPr>
            <p:ph sz="half" idx="1"/>
          </p:nvPr>
        </p:nvSpPr>
        <p:spPr>
          <a:xfrm>
            <a:off x="838200" y="1825625"/>
            <a:ext cx="10515600" cy="4351338"/>
          </a:xfrm>
        </p:spPr>
        <p:txBody>
          <a:bodyPr>
            <a:normAutofit/>
          </a:bodyPr>
          <a:lstStyle/>
          <a:p>
            <a:pPr marL="0" indent="0">
              <a:buNone/>
            </a:pPr>
            <a:r>
              <a:rPr lang="ja-JP" altLang="en-US" sz="3200" dirty="0"/>
              <a:t>１．ランキングをより確かなものにする</a:t>
            </a:r>
            <a:endParaRPr lang="en-US" altLang="ja-JP" sz="3200" dirty="0"/>
          </a:p>
          <a:p>
            <a:pPr marL="0" indent="0">
              <a:buNone/>
            </a:pPr>
            <a:r>
              <a:rPr kumimoji="1" lang="ja-JP" altLang="en-US" sz="2400" dirty="0"/>
              <a:t>（これが最終的にサイトに表示させるもの）</a:t>
            </a:r>
            <a:endParaRPr kumimoji="1" lang="en-US" altLang="ja-JP" sz="2400" dirty="0"/>
          </a:p>
          <a:p>
            <a:pPr marL="0" indent="0">
              <a:buNone/>
            </a:pPr>
            <a:endParaRPr kumimoji="1" lang="en-US" altLang="ja-JP" sz="2400" dirty="0"/>
          </a:p>
          <a:p>
            <a:pPr marL="0" indent="0">
              <a:buNone/>
            </a:pPr>
            <a:r>
              <a:rPr kumimoji="1" lang="ja-JP" altLang="en-US" sz="2400" dirty="0"/>
              <a:t>出力目視確認して、たしかにタイポされや</a:t>
            </a:r>
            <a:endParaRPr kumimoji="1" lang="en-US" altLang="ja-JP" sz="2400" dirty="0"/>
          </a:p>
          <a:p>
            <a:pPr marL="0" indent="0">
              <a:buNone/>
            </a:pPr>
            <a:r>
              <a:rPr kumimoji="1" lang="ja-JP" altLang="en-US" sz="2400" dirty="0"/>
              <a:t>すそうだと感じるようなドメインが出力さ</a:t>
            </a:r>
            <a:endParaRPr kumimoji="1" lang="en-US" altLang="ja-JP" sz="2400" dirty="0"/>
          </a:p>
          <a:p>
            <a:pPr marL="0" indent="0">
              <a:buNone/>
            </a:pPr>
            <a:r>
              <a:rPr kumimoji="1" lang="ja-JP" altLang="en-US" sz="2400" dirty="0"/>
              <a:t>れる状態に近づける</a:t>
            </a:r>
            <a:endParaRPr kumimoji="1" lang="en-US" altLang="ja-JP" sz="2400" dirty="0"/>
          </a:p>
        </p:txBody>
      </p:sp>
      <p:pic>
        <p:nvPicPr>
          <p:cNvPr id="6" name="図 5">
            <a:extLst>
              <a:ext uri="{FF2B5EF4-FFF2-40B4-BE49-F238E27FC236}">
                <a16:creationId xmlns:a16="http://schemas.microsoft.com/office/drawing/2014/main" id="{1AA62E59-F5C9-574D-2A82-693BA5378472}"/>
              </a:ext>
            </a:extLst>
          </p:cNvPr>
          <p:cNvPicPr>
            <a:picLocks noChangeAspect="1"/>
          </p:cNvPicPr>
          <p:nvPr/>
        </p:nvPicPr>
        <p:blipFill>
          <a:blip r:embed="rId2"/>
          <a:srcRect r="20450" b="12977"/>
          <a:stretch>
            <a:fillRect/>
          </a:stretch>
        </p:blipFill>
        <p:spPr>
          <a:xfrm>
            <a:off x="7075714" y="2443676"/>
            <a:ext cx="3619293" cy="37332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84964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FA5B-7C19-C2FB-A27F-71937FA947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B91912-D9CA-F468-9AB9-59944434D09E}"/>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697685C4-973F-E529-918F-2DFE2865C3DA}"/>
              </a:ext>
            </a:extLst>
          </p:cNvPr>
          <p:cNvSpPr>
            <a:spLocks noGrp="1"/>
          </p:cNvSpPr>
          <p:nvPr>
            <p:ph sz="half" idx="1"/>
          </p:nvPr>
        </p:nvSpPr>
        <p:spPr>
          <a:xfrm>
            <a:off x="838200" y="1825625"/>
            <a:ext cx="10515600" cy="4351338"/>
          </a:xfrm>
        </p:spPr>
        <p:txBody>
          <a:bodyPr>
            <a:normAutofit/>
          </a:bodyPr>
          <a:lstStyle/>
          <a:p>
            <a:pPr marL="0" indent="0">
              <a:buNone/>
            </a:pPr>
            <a:r>
              <a:rPr lang="ja-JP" altLang="en-US" sz="3200" dirty="0"/>
              <a:t>１．ランキングをより確かなものにする</a:t>
            </a:r>
            <a:endParaRPr lang="en-US" altLang="ja-JP" sz="3200" dirty="0"/>
          </a:p>
          <a:p>
            <a:pPr marL="0" indent="0">
              <a:buNone/>
            </a:pPr>
            <a:r>
              <a:rPr lang="ja-JP" altLang="en-US" sz="2800" dirty="0"/>
              <a:t>人為的ななにかを見つける１</a:t>
            </a:r>
            <a:endParaRPr lang="en-US" altLang="ja-JP" sz="2800" dirty="0"/>
          </a:p>
        </p:txBody>
      </p:sp>
      <p:pic>
        <p:nvPicPr>
          <p:cNvPr id="1026" name="Picture 2" descr="日本語キーボードの配列図（コンパクト）イラスト - No: 23708878｜無料イラスト・フリー素材なら「イラストAC」">
            <a:extLst>
              <a:ext uri="{FF2B5EF4-FFF2-40B4-BE49-F238E27FC236}">
                <a16:creationId xmlns:a16="http://schemas.microsoft.com/office/drawing/2014/main" id="{2E89340A-4F64-AE89-52A4-515D6B78F1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39" b="20375"/>
          <a:stretch>
            <a:fillRect/>
          </a:stretch>
        </p:blipFill>
        <p:spPr bwMode="auto">
          <a:xfrm>
            <a:off x="2409674" y="2840619"/>
            <a:ext cx="7372651" cy="31982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手の甲、両手 | 無料イラスト素材｜素材ラボ">
            <a:extLst>
              <a:ext uri="{FF2B5EF4-FFF2-40B4-BE49-F238E27FC236}">
                <a16:creationId xmlns:a16="http://schemas.microsoft.com/office/drawing/2014/main" id="{C27DD3DA-5C20-72DD-846C-59344B89EE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944" y="3799114"/>
            <a:ext cx="3755982" cy="2816986"/>
          </a:xfrm>
          <a:prstGeom prst="rect">
            <a:avLst/>
          </a:prstGeom>
          <a:noFill/>
          <a:extLst>
            <a:ext uri="{909E8E84-426E-40DD-AFC4-6F175D3DCCD1}">
              <a14:hiddenFill xmlns:a14="http://schemas.microsoft.com/office/drawing/2010/main">
                <a:solidFill>
                  <a:srgbClr val="FFFFFF"/>
                </a:solidFill>
              </a14:hiddenFill>
            </a:ext>
          </a:extLst>
        </p:spPr>
      </p:pic>
      <p:sp>
        <p:nvSpPr>
          <p:cNvPr id="4" name="矢印: 右 3">
            <a:extLst>
              <a:ext uri="{FF2B5EF4-FFF2-40B4-BE49-F238E27FC236}">
                <a16:creationId xmlns:a16="http://schemas.microsoft.com/office/drawing/2014/main" id="{683C0219-6288-65E7-58C7-FFA975F3C48A}"/>
              </a:ext>
            </a:extLst>
          </p:cNvPr>
          <p:cNvSpPr/>
          <p:nvPr/>
        </p:nvSpPr>
        <p:spPr>
          <a:xfrm>
            <a:off x="7086600" y="3777342"/>
            <a:ext cx="587829" cy="35922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5" name="矢印: 右 4">
            <a:extLst>
              <a:ext uri="{FF2B5EF4-FFF2-40B4-BE49-F238E27FC236}">
                <a16:creationId xmlns:a16="http://schemas.microsoft.com/office/drawing/2014/main" id="{0F066DD8-86C9-7000-6BCB-9E0636CC9F43}"/>
              </a:ext>
            </a:extLst>
          </p:cNvPr>
          <p:cNvSpPr/>
          <p:nvPr/>
        </p:nvSpPr>
        <p:spPr>
          <a:xfrm rot="10800000">
            <a:off x="4071259" y="3777342"/>
            <a:ext cx="587829" cy="359229"/>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90022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3D66C-4BD8-9A1A-447D-2E5D910E29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B5FE5F-FAED-2962-29E5-3C8201B978C6}"/>
              </a:ext>
            </a:extLst>
          </p:cNvPr>
          <p:cNvSpPr>
            <a:spLocks noGrp="1"/>
          </p:cNvSpPr>
          <p:nvPr>
            <p:ph type="title"/>
          </p:nvPr>
        </p:nvSpPr>
        <p:spPr/>
        <p:txBody>
          <a:bodyPr/>
          <a:lstStyle/>
          <a:p>
            <a:r>
              <a:rPr kumimoji="1" lang="ja-JP" altLang="en-US"/>
              <a:t>今後の研究方針・方向性</a:t>
            </a:r>
          </a:p>
        </p:txBody>
      </p:sp>
      <p:sp>
        <p:nvSpPr>
          <p:cNvPr id="3" name="コンテンツ プレースホルダー 2">
            <a:extLst>
              <a:ext uri="{FF2B5EF4-FFF2-40B4-BE49-F238E27FC236}">
                <a16:creationId xmlns:a16="http://schemas.microsoft.com/office/drawing/2014/main" id="{F6198A5A-8DBB-237C-7313-694E7BDF4C45}"/>
              </a:ext>
            </a:extLst>
          </p:cNvPr>
          <p:cNvSpPr>
            <a:spLocks noGrp="1"/>
          </p:cNvSpPr>
          <p:nvPr>
            <p:ph sz="half" idx="1"/>
          </p:nvPr>
        </p:nvSpPr>
        <p:spPr>
          <a:xfrm>
            <a:off x="838200" y="1825625"/>
            <a:ext cx="10515600" cy="4351338"/>
          </a:xfrm>
        </p:spPr>
        <p:txBody>
          <a:bodyPr>
            <a:normAutofit/>
          </a:bodyPr>
          <a:lstStyle/>
          <a:p>
            <a:pPr marL="0" indent="0">
              <a:buNone/>
            </a:pPr>
            <a:r>
              <a:rPr lang="ja-JP" altLang="en-US" sz="3200" dirty="0"/>
              <a:t>１．ランキングをより確かなものにする</a:t>
            </a:r>
            <a:endParaRPr lang="en-US" altLang="ja-JP" sz="3200" dirty="0"/>
          </a:p>
          <a:p>
            <a:pPr marL="0" indent="0">
              <a:buNone/>
            </a:pPr>
            <a:r>
              <a:rPr lang="ja-JP" altLang="en-US" sz="2800" dirty="0"/>
              <a:t>人為的ななにかを見つける２</a:t>
            </a:r>
            <a:endParaRPr lang="en-US" altLang="ja-JP" sz="2800" dirty="0"/>
          </a:p>
          <a:p>
            <a:pPr marL="0" indent="0">
              <a:buNone/>
            </a:pPr>
            <a:endParaRPr lang="en-US" altLang="ja-JP" sz="2800" dirty="0"/>
          </a:p>
          <a:p>
            <a:pPr marL="0" indent="0">
              <a:buNone/>
            </a:pPr>
            <a:r>
              <a:rPr lang="ja-JP" altLang="en-US" sz="2400" dirty="0"/>
              <a:t>二重入力で、母音が多い</a:t>
            </a:r>
            <a:endParaRPr lang="en-US" altLang="ja-JP" sz="2400" dirty="0"/>
          </a:p>
          <a:p>
            <a:pPr marL="0" indent="0">
              <a:buNone/>
            </a:pPr>
            <a:r>
              <a:rPr lang="ja-JP" altLang="en-US" sz="2400" dirty="0"/>
              <a:t>→</a:t>
            </a:r>
            <a:r>
              <a:rPr lang="en-US" altLang="ja-JP" sz="2400" dirty="0" err="1"/>
              <a:t>a,e,i,o,u</a:t>
            </a:r>
            <a:r>
              <a:rPr lang="ja-JP" altLang="en-US" sz="2400" dirty="0"/>
              <a:t>は使用されやすいから？</a:t>
            </a:r>
            <a:endParaRPr lang="en-US" altLang="ja-JP" sz="2400" dirty="0"/>
          </a:p>
        </p:txBody>
      </p:sp>
      <p:pic>
        <p:nvPicPr>
          <p:cNvPr id="8" name="図 7">
            <a:extLst>
              <a:ext uri="{FF2B5EF4-FFF2-40B4-BE49-F238E27FC236}">
                <a16:creationId xmlns:a16="http://schemas.microsoft.com/office/drawing/2014/main" id="{96EF419A-9231-41CC-7D02-A8DEC5B4389D}"/>
              </a:ext>
            </a:extLst>
          </p:cNvPr>
          <p:cNvPicPr>
            <a:picLocks noChangeAspect="1"/>
          </p:cNvPicPr>
          <p:nvPr/>
        </p:nvPicPr>
        <p:blipFill>
          <a:blip r:embed="rId2"/>
          <a:stretch>
            <a:fillRect/>
          </a:stretch>
        </p:blipFill>
        <p:spPr>
          <a:xfrm>
            <a:off x="6727372" y="3076555"/>
            <a:ext cx="3580888" cy="2431616"/>
          </a:xfrm>
          <a:prstGeom prst="rect">
            <a:avLst/>
          </a:prstGeom>
        </p:spPr>
      </p:pic>
    </p:spTree>
    <p:extLst>
      <p:ext uri="{BB962C8B-B14F-4D97-AF65-F5344CB8AC3E}">
        <p14:creationId xmlns:p14="http://schemas.microsoft.com/office/powerpoint/2010/main" val="3850317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6280-E6B5-FF02-1F05-DE62F0336C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D962BE-E75C-F5EE-FCBA-A5894CF25D37}"/>
              </a:ext>
            </a:extLst>
          </p:cNvPr>
          <p:cNvSpPr>
            <a:spLocks noGrp="1"/>
          </p:cNvSpPr>
          <p:nvPr>
            <p:ph type="title"/>
          </p:nvPr>
        </p:nvSpPr>
        <p:spPr/>
        <p:txBody>
          <a:bodyPr/>
          <a:lstStyle/>
          <a:p>
            <a:r>
              <a:rPr kumimoji="1" lang="ja-JP" altLang="en-US" dirty="0"/>
              <a:t>今後の研究方針・方向性</a:t>
            </a:r>
          </a:p>
        </p:txBody>
      </p:sp>
      <p:sp>
        <p:nvSpPr>
          <p:cNvPr id="3" name="コンテンツ プレースホルダー 2">
            <a:extLst>
              <a:ext uri="{FF2B5EF4-FFF2-40B4-BE49-F238E27FC236}">
                <a16:creationId xmlns:a16="http://schemas.microsoft.com/office/drawing/2014/main" id="{B64178C8-5601-F3A9-4BCC-C395D8C05A4E}"/>
              </a:ext>
            </a:extLst>
          </p:cNvPr>
          <p:cNvSpPr>
            <a:spLocks noGrp="1"/>
          </p:cNvSpPr>
          <p:nvPr>
            <p:ph sz="half" idx="1"/>
          </p:nvPr>
        </p:nvSpPr>
        <p:spPr>
          <a:xfrm>
            <a:off x="838200" y="1825624"/>
            <a:ext cx="10515600" cy="4788535"/>
          </a:xfrm>
        </p:spPr>
        <p:txBody>
          <a:bodyPr>
            <a:normAutofit/>
          </a:bodyPr>
          <a:lstStyle/>
          <a:p>
            <a:pPr marL="0" indent="0">
              <a:buNone/>
            </a:pPr>
            <a:r>
              <a:rPr lang="ja-JP" altLang="en-US" sz="3200" dirty="0">
                <a:latin typeface="+mn-ea"/>
              </a:rPr>
              <a:t>２．防御的登録を優先的に抑えるべきタイポドメインを表示できるサイトを作成</a:t>
            </a:r>
            <a:endParaRPr lang="en-US" altLang="ja-JP" sz="3200" dirty="0">
              <a:latin typeface="+mn-ea"/>
            </a:endParaRPr>
          </a:p>
          <a:p>
            <a:pPr marL="0" indent="0">
              <a:buNone/>
            </a:pPr>
            <a:endParaRPr lang="en-US" altLang="ja-JP" sz="2400" dirty="0"/>
          </a:p>
          <a:p>
            <a:pPr marL="0" indent="0">
              <a:buNone/>
            </a:pPr>
            <a:r>
              <a:rPr lang="ja-JP" altLang="en-US" sz="2400" dirty="0"/>
              <a:t>最終ゴールは、この→サイトに表示方法</a:t>
            </a:r>
            <a:endParaRPr lang="en-US" altLang="ja-JP" sz="2400" dirty="0"/>
          </a:p>
          <a:p>
            <a:pPr marL="0" indent="0">
              <a:buNone/>
            </a:pPr>
            <a:r>
              <a:rPr lang="ja-JP" altLang="en-US" sz="2400" dirty="0"/>
              <a:t>を考えるになりそうなので、ギリギリま</a:t>
            </a:r>
            <a:endParaRPr lang="en-US" altLang="ja-JP" sz="2400" dirty="0"/>
          </a:p>
          <a:p>
            <a:pPr marL="0" indent="0">
              <a:buNone/>
            </a:pPr>
            <a:r>
              <a:rPr lang="ja-JP" altLang="en-US" sz="2400" dirty="0"/>
              <a:t>で出力精度を突き詰めれそう</a:t>
            </a:r>
            <a:endParaRPr lang="en-US" altLang="ja-JP" sz="2400" dirty="0">
              <a:latin typeface="+mn-ea"/>
            </a:endParaRPr>
          </a:p>
        </p:txBody>
      </p:sp>
      <p:pic>
        <p:nvPicPr>
          <p:cNvPr id="4" name="図 3">
            <a:extLst>
              <a:ext uri="{FF2B5EF4-FFF2-40B4-BE49-F238E27FC236}">
                <a16:creationId xmlns:a16="http://schemas.microsoft.com/office/drawing/2014/main" id="{B513724E-3DDE-F6A7-F9E1-D966ECF68DC9}"/>
              </a:ext>
            </a:extLst>
          </p:cNvPr>
          <p:cNvPicPr>
            <a:picLocks noChangeAspect="1"/>
          </p:cNvPicPr>
          <p:nvPr/>
        </p:nvPicPr>
        <p:blipFill>
          <a:blip r:embed="rId2"/>
          <a:srcRect t="7600" r="23763" b="20461"/>
          <a:stretch>
            <a:fillRect/>
          </a:stretch>
        </p:blipFill>
        <p:spPr>
          <a:xfrm>
            <a:off x="6669573" y="2899308"/>
            <a:ext cx="3985213" cy="29789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08201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09701-EB40-60D5-F13B-47E26B7C15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E93615-353A-02C8-8C49-D32BACA9C0D8}"/>
              </a:ext>
            </a:extLst>
          </p:cNvPr>
          <p:cNvSpPr>
            <a:spLocks noGrp="1"/>
          </p:cNvSpPr>
          <p:nvPr>
            <p:ph type="title"/>
          </p:nvPr>
        </p:nvSpPr>
        <p:spPr/>
        <p:txBody>
          <a:bodyPr/>
          <a:lstStyle/>
          <a:p>
            <a:r>
              <a:rPr kumimoji="1" lang="ja-JP" altLang="en-US" dirty="0"/>
              <a:t>前回の</a:t>
            </a:r>
            <a:r>
              <a:rPr lang="ja-JP" altLang="en-US" dirty="0"/>
              <a:t>発表</a:t>
            </a:r>
            <a:r>
              <a:rPr kumimoji="1" lang="ja-JP" altLang="en-US" dirty="0"/>
              <a:t>を踏まえて</a:t>
            </a:r>
          </a:p>
        </p:txBody>
      </p:sp>
      <p:sp>
        <p:nvSpPr>
          <p:cNvPr id="3" name="コンテンツ プレースホルダー 2">
            <a:extLst>
              <a:ext uri="{FF2B5EF4-FFF2-40B4-BE49-F238E27FC236}">
                <a16:creationId xmlns:a16="http://schemas.microsoft.com/office/drawing/2014/main" id="{43EC1A85-1B93-9A17-F2EA-1AD2E0D62CBD}"/>
              </a:ext>
            </a:extLst>
          </p:cNvPr>
          <p:cNvSpPr>
            <a:spLocks noGrp="1"/>
          </p:cNvSpPr>
          <p:nvPr>
            <p:ph sz="half" idx="1"/>
          </p:nvPr>
        </p:nvSpPr>
        <p:spPr>
          <a:xfrm>
            <a:off x="838200" y="1613531"/>
            <a:ext cx="10515600" cy="4788535"/>
          </a:xfrm>
        </p:spPr>
        <p:txBody>
          <a:bodyPr>
            <a:normAutofit/>
          </a:bodyPr>
          <a:lstStyle/>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r>
              <a:rPr lang="ja-JP" altLang="en-US" sz="2400" dirty="0">
                <a:latin typeface="+mn-ea"/>
              </a:rPr>
              <a:t>・ルールベースだと、結局論文で公開しちゃうからセキュリティ面を意識しても意味がないかも</a:t>
            </a:r>
            <a:endParaRPr lang="en-US" altLang="ja-JP" sz="2400" dirty="0">
              <a:latin typeface="+mn-ea"/>
            </a:endParaRPr>
          </a:p>
          <a:p>
            <a:pPr marL="0" indent="0">
              <a:buNone/>
            </a:pPr>
            <a:r>
              <a:rPr lang="ja-JP" altLang="en-US" sz="2400" dirty="0">
                <a:latin typeface="+mn-ea"/>
              </a:rPr>
              <a:t>→どうせ公開するからセキュリティ面考える必要ないことは真実なので、まずできるだけ求めているようなものに近い予測結果を表示できるようにすることをまず目標にして、余力があれば考えます</a:t>
            </a:r>
            <a:endParaRPr lang="en-US" altLang="ja-JP" sz="2400" dirty="0">
              <a:latin typeface="+mn-ea"/>
            </a:endParaRPr>
          </a:p>
        </p:txBody>
      </p:sp>
      <p:pic>
        <p:nvPicPr>
          <p:cNvPr id="7" name="図 6">
            <a:extLst>
              <a:ext uri="{FF2B5EF4-FFF2-40B4-BE49-F238E27FC236}">
                <a16:creationId xmlns:a16="http://schemas.microsoft.com/office/drawing/2014/main" id="{C72C953C-BCED-B54B-3B4D-EA26EC475936}"/>
              </a:ext>
            </a:extLst>
          </p:cNvPr>
          <p:cNvPicPr>
            <a:picLocks noChangeAspect="1"/>
          </p:cNvPicPr>
          <p:nvPr/>
        </p:nvPicPr>
        <p:blipFill>
          <a:blip r:embed="rId2"/>
          <a:stretch>
            <a:fillRect/>
          </a:stretch>
        </p:blipFill>
        <p:spPr>
          <a:xfrm>
            <a:off x="1258389" y="1683201"/>
            <a:ext cx="6383382" cy="23620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08987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42C8-A4B3-CD47-7CB1-1E07A57D4A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996361-768F-A3E7-36B9-75AE652384FB}"/>
              </a:ext>
            </a:extLst>
          </p:cNvPr>
          <p:cNvSpPr>
            <a:spLocks noGrp="1"/>
          </p:cNvSpPr>
          <p:nvPr>
            <p:ph type="title"/>
          </p:nvPr>
        </p:nvSpPr>
        <p:spPr/>
        <p:txBody>
          <a:bodyPr/>
          <a:lstStyle/>
          <a:p>
            <a:r>
              <a:rPr kumimoji="1" lang="ja-JP" altLang="en-US" dirty="0"/>
              <a:t>前回の</a:t>
            </a:r>
            <a:r>
              <a:rPr lang="ja-JP" altLang="en-US" dirty="0"/>
              <a:t>発表</a:t>
            </a:r>
            <a:r>
              <a:rPr kumimoji="1" lang="ja-JP" altLang="en-US" dirty="0"/>
              <a:t>を踏まえて</a:t>
            </a:r>
          </a:p>
        </p:txBody>
      </p:sp>
      <p:sp>
        <p:nvSpPr>
          <p:cNvPr id="3" name="コンテンツ プレースホルダー 2">
            <a:extLst>
              <a:ext uri="{FF2B5EF4-FFF2-40B4-BE49-F238E27FC236}">
                <a16:creationId xmlns:a16="http://schemas.microsoft.com/office/drawing/2014/main" id="{476A6D70-5A0D-AAF5-EDE7-838AA01CC791}"/>
              </a:ext>
            </a:extLst>
          </p:cNvPr>
          <p:cNvSpPr>
            <a:spLocks noGrp="1"/>
          </p:cNvSpPr>
          <p:nvPr>
            <p:ph sz="half" idx="1"/>
          </p:nvPr>
        </p:nvSpPr>
        <p:spPr>
          <a:xfrm>
            <a:off x="838200" y="1825624"/>
            <a:ext cx="10515600" cy="4788535"/>
          </a:xfrm>
        </p:spPr>
        <p:txBody>
          <a:bodyPr>
            <a:normAutofit/>
          </a:bodyPr>
          <a:lstStyle/>
          <a:p>
            <a:pPr marL="0" indent="0">
              <a:buNone/>
            </a:pPr>
            <a:r>
              <a:rPr lang="ja-JP" altLang="en-US" sz="2400" dirty="0">
                <a:latin typeface="+mn-ea"/>
              </a:rPr>
              <a:t>・</a:t>
            </a:r>
            <a:r>
              <a:rPr lang="ja-JP" altLang="en-US" sz="2400" dirty="0"/>
              <a:t>トップレベルドメインの使用頻度が高い順に押さえる</a:t>
            </a:r>
            <a:endParaRPr lang="en-US" altLang="ja-JP" sz="2400" dirty="0"/>
          </a:p>
          <a:p>
            <a:pPr marL="0" indent="0">
              <a:buNone/>
            </a:pPr>
            <a:r>
              <a:rPr lang="ja-JP" altLang="en-US" sz="2400" dirty="0">
                <a:latin typeface="+mn-ea"/>
              </a:rPr>
              <a:t>→（軽く調べ：</a:t>
            </a:r>
            <a:r>
              <a:rPr lang="en-US" altLang="ja-JP" sz="2400" dirty="0">
                <a:latin typeface="+mn-ea"/>
                <a:hlinkClick r:id="rId2"/>
              </a:rPr>
              <a:t>https://nlog.jp/domain-volume-ranking/</a:t>
            </a:r>
            <a:r>
              <a:rPr lang="ja-JP" altLang="en-US" sz="2400" dirty="0">
                <a:latin typeface="+mn-ea"/>
              </a:rPr>
              <a:t> ）</a:t>
            </a:r>
            <a:endParaRPr lang="en-US" altLang="ja-JP" sz="2400" dirty="0">
              <a:latin typeface="+mn-ea"/>
            </a:endParaRPr>
          </a:p>
          <a:p>
            <a:pPr marL="0" indent="0">
              <a:buNone/>
            </a:pPr>
            <a:endParaRPr lang="en-US" altLang="ja-JP" sz="2400" dirty="0">
              <a:latin typeface="+mn-ea"/>
            </a:endParaRPr>
          </a:p>
          <a:p>
            <a:pPr marL="0" indent="0">
              <a:buNone/>
            </a:pPr>
            <a:r>
              <a:rPr lang="ja-JP" altLang="en-US" sz="2400" dirty="0">
                <a:latin typeface="+mn-ea"/>
              </a:rPr>
              <a:t>（日本国内では、</a:t>
            </a:r>
            <a:r>
              <a:rPr lang="en-US" altLang="ja-JP" sz="2400" dirty="0">
                <a:latin typeface="+mn-ea"/>
              </a:rPr>
              <a:t>.com</a:t>
            </a:r>
            <a:r>
              <a:rPr lang="ja-JP" altLang="en-US" sz="2400" dirty="0">
                <a:latin typeface="+mn-ea"/>
              </a:rPr>
              <a:t>と</a:t>
            </a:r>
            <a:r>
              <a:rPr lang="en-US" altLang="ja-JP" sz="2400" dirty="0">
                <a:latin typeface="+mn-ea"/>
              </a:rPr>
              <a:t>.co.jp</a:t>
            </a:r>
            <a:r>
              <a:rPr lang="ja-JP" altLang="en-US" sz="2400" dirty="0">
                <a:latin typeface="+mn-ea"/>
              </a:rPr>
              <a:t>の混同は非常に多い）。</a:t>
            </a: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a:p>
            <a:pPr marL="0" indent="0">
              <a:buNone/>
            </a:pPr>
            <a:endParaRPr lang="en-US" altLang="ja-JP" sz="2400" dirty="0">
              <a:latin typeface="+mn-ea"/>
            </a:endParaRPr>
          </a:p>
        </p:txBody>
      </p:sp>
      <p:pic>
        <p:nvPicPr>
          <p:cNvPr id="7" name="図 6">
            <a:extLst>
              <a:ext uri="{FF2B5EF4-FFF2-40B4-BE49-F238E27FC236}">
                <a16:creationId xmlns:a16="http://schemas.microsoft.com/office/drawing/2014/main" id="{196B4637-BCD8-E138-D16B-6D9A10BD4C35}"/>
              </a:ext>
            </a:extLst>
          </p:cNvPr>
          <p:cNvPicPr>
            <a:picLocks noChangeAspect="1"/>
          </p:cNvPicPr>
          <p:nvPr/>
        </p:nvPicPr>
        <p:blipFill>
          <a:blip r:embed="rId3"/>
          <a:srcRect t="48843"/>
          <a:stretch>
            <a:fillRect/>
          </a:stretch>
        </p:blipFill>
        <p:spPr>
          <a:xfrm>
            <a:off x="838200" y="3622765"/>
            <a:ext cx="9838509" cy="982751"/>
          </a:xfrm>
          <a:prstGeom prst="rect">
            <a:avLst/>
          </a:prstGeom>
        </p:spPr>
      </p:pic>
      <p:pic>
        <p:nvPicPr>
          <p:cNvPr id="9" name="図 8">
            <a:extLst>
              <a:ext uri="{FF2B5EF4-FFF2-40B4-BE49-F238E27FC236}">
                <a16:creationId xmlns:a16="http://schemas.microsoft.com/office/drawing/2014/main" id="{1C9BD6E1-F350-89CB-8DE9-025A87A8BC26}"/>
              </a:ext>
            </a:extLst>
          </p:cNvPr>
          <p:cNvPicPr>
            <a:picLocks noChangeAspect="1"/>
          </p:cNvPicPr>
          <p:nvPr/>
        </p:nvPicPr>
        <p:blipFill>
          <a:blip r:embed="rId4"/>
          <a:stretch>
            <a:fillRect/>
          </a:stretch>
        </p:blipFill>
        <p:spPr>
          <a:xfrm>
            <a:off x="838200" y="4524412"/>
            <a:ext cx="8162984" cy="1634161"/>
          </a:xfrm>
          <a:prstGeom prst="rect">
            <a:avLst/>
          </a:prstGeom>
        </p:spPr>
      </p:pic>
    </p:spTree>
    <p:extLst>
      <p:ext uri="{BB962C8B-B14F-4D97-AF65-F5344CB8AC3E}">
        <p14:creationId xmlns:p14="http://schemas.microsoft.com/office/powerpoint/2010/main" val="3058174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C8A4-F3FC-9535-D894-7DB02569CE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90EDAE-F653-D8DE-AEA5-C194ACF661A9}"/>
              </a:ext>
            </a:extLst>
          </p:cNvPr>
          <p:cNvSpPr>
            <a:spLocks noGrp="1"/>
          </p:cNvSpPr>
          <p:nvPr>
            <p:ph type="title"/>
          </p:nvPr>
        </p:nvSpPr>
        <p:spPr/>
        <p:txBody>
          <a:bodyPr/>
          <a:lstStyle/>
          <a:p>
            <a:r>
              <a:rPr kumimoji="1" lang="ja-JP" altLang="en-US" dirty="0"/>
              <a:t>最後に</a:t>
            </a:r>
          </a:p>
        </p:txBody>
      </p:sp>
      <p:sp>
        <p:nvSpPr>
          <p:cNvPr id="3" name="コンテンツ プレースホルダー 2">
            <a:extLst>
              <a:ext uri="{FF2B5EF4-FFF2-40B4-BE49-F238E27FC236}">
                <a16:creationId xmlns:a16="http://schemas.microsoft.com/office/drawing/2014/main" id="{B6F1CB7B-E9BF-1C9A-D430-D29E866E2796}"/>
              </a:ext>
            </a:extLst>
          </p:cNvPr>
          <p:cNvSpPr>
            <a:spLocks noGrp="1"/>
          </p:cNvSpPr>
          <p:nvPr>
            <p:ph sz="half" idx="1"/>
          </p:nvPr>
        </p:nvSpPr>
        <p:spPr>
          <a:xfrm>
            <a:off x="838200" y="1825624"/>
            <a:ext cx="10515600" cy="4788535"/>
          </a:xfrm>
        </p:spPr>
        <p:txBody>
          <a:bodyPr>
            <a:normAutofit/>
          </a:bodyPr>
          <a:lstStyle/>
          <a:p>
            <a:pPr marL="0" indent="0">
              <a:buNone/>
            </a:pPr>
            <a:r>
              <a:rPr lang="ja-JP" altLang="en-US" sz="2400" dirty="0">
                <a:latin typeface="+mn-ea"/>
              </a:rPr>
              <a:t>タイポデータを重み付けとスコアリングだけに利用するのはもったいない</a:t>
            </a:r>
            <a:endParaRPr lang="en-US" altLang="ja-JP" sz="2400" dirty="0">
              <a:latin typeface="+mn-ea"/>
            </a:endParaRPr>
          </a:p>
          <a:p>
            <a:pPr marL="0" indent="0">
              <a:buNone/>
            </a:pPr>
            <a:r>
              <a:rPr lang="ja-JP" altLang="en-US" sz="2400" dirty="0">
                <a:latin typeface="+mn-ea"/>
              </a:rPr>
              <a:t>収集したデータをもっと活用したい</a:t>
            </a:r>
            <a:endParaRPr lang="en-US" altLang="ja-JP" sz="2400" dirty="0">
              <a:latin typeface="+mn-ea"/>
            </a:endParaRPr>
          </a:p>
          <a:p>
            <a:pPr marL="0" indent="0">
              <a:buNone/>
            </a:pPr>
            <a:r>
              <a:rPr lang="ja-JP" altLang="en-US" sz="2400" dirty="0">
                <a:latin typeface="+mn-ea"/>
              </a:rPr>
              <a:t>（以前言っていた機械学習は試そうとしたのですが、断念しました）</a:t>
            </a:r>
            <a:endParaRPr lang="en-US" altLang="ja-JP" sz="2400" dirty="0">
              <a:latin typeface="+mn-ea"/>
            </a:endParaRPr>
          </a:p>
        </p:txBody>
      </p:sp>
    </p:spTree>
    <p:extLst>
      <p:ext uri="{BB962C8B-B14F-4D97-AF65-F5344CB8AC3E}">
        <p14:creationId xmlns:p14="http://schemas.microsoft.com/office/powerpoint/2010/main" val="397442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7F92F-D57B-6C3B-6AE0-B28668D9FE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5D2C4B-EBB5-7904-B258-278050DEB822}"/>
              </a:ext>
            </a:extLst>
          </p:cNvPr>
          <p:cNvSpPr>
            <a:spLocks noGrp="1"/>
          </p:cNvSpPr>
          <p:nvPr>
            <p:ph type="title"/>
          </p:nvPr>
        </p:nvSpPr>
        <p:spPr/>
        <p:txBody>
          <a:bodyPr/>
          <a:lstStyle/>
          <a:p>
            <a:r>
              <a:rPr kumimoji="1" lang="ja-JP" altLang="en-US" dirty="0"/>
              <a:t>最後に</a:t>
            </a:r>
          </a:p>
        </p:txBody>
      </p:sp>
      <p:sp>
        <p:nvSpPr>
          <p:cNvPr id="3" name="コンテンツ プレースホルダー 2">
            <a:extLst>
              <a:ext uri="{FF2B5EF4-FFF2-40B4-BE49-F238E27FC236}">
                <a16:creationId xmlns:a16="http://schemas.microsoft.com/office/drawing/2014/main" id="{E924C2C0-1CB5-58D0-C640-9F656DD73FC1}"/>
              </a:ext>
            </a:extLst>
          </p:cNvPr>
          <p:cNvSpPr>
            <a:spLocks noGrp="1"/>
          </p:cNvSpPr>
          <p:nvPr>
            <p:ph sz="half" idx="1"/>
          </p:nvPr>
        </p:nvSpPr>
        <p:spPr>
          <a:xfrm>
            <a:off x="838200" y="1825624"/>
            <a:ext cx="10515600" cy="4788535"/>
          </a:xfrm>
        </p:spPr>
        <p:txBody>
          <a:bodyPr>
            <a:normAutofit/>
          </a:bodyPr>
          <a:lstStyle/>
          <a:p>
            <a:pPr marL="0" indent="0">
              <a:buNone/>
            </a:pPr>
            <a:r>
              <a:rPr kumimoji="1" lang="ja-JP" altLang="en-US" sz="2400" dirty="0">
                <a:latin typeface="+mn-ea"/>
              </a:rPr>
              <a:t>タイポドメインの候補をどのようにスコアリング・ランキング化するのかについて、アドバイスがあれば教えてください</a:t>
            </a:r>
            <a:endParaRPr kumimoji="1" lang="en-US" altLang="ja-JP" sz="2400" dirty="0">
              <a:latin typeface="+mn-ea"/>
            </a:endParaRPr>
          </a:p>
          <a:p>
            <a:pPr marL="0" indent="0">
              <a:buNone/>
            </a:pPr>
            <a:r>
              <a:rPr lang="ja-JP" altLang="en-US" sz="2400" dirty="0">
                <a:latin typeface="+mn-ea"/>
              </a:rPr>
              <a:t>・タイポした位置、タイポしたドメインの長さ</a:t>
            </a:r>
            <a:endParaRPr lang="en-US" altLang="ja-JP" sz="2400" dirty="0">
              <a:latin typeface="+mn-ea"/>
            </a:endParaRPr>
          </a:p>
          <a:p>
            <a:pPr marL="0" indent="0">
              <a:buNone/>
            </a:pPr>
            <a:endParaRPr lang="en-US" altLang="ja-JP" sz="2400" dirty="0">
              <a:latin typeface="+mn-ea"/>
            </a:endParaRPr>
          </a:p>
          <a:p>
            <a:pPr marL="0" indent="0">
              <a:buNone/>
            </a:pPr>
            <a:r>
              <a:rPr lang="ja-JP" altLang="en-US" sz="2400" dirty="0">
                <a:latin typeface="+mn-ea"/>
              </a:rPr>
              <a:t>〇</a:t>
            </a:r>
            <a:r>
              <a:rPr kumimoji="1" lang="ja-JP" altLang="en-US" sz="2400" dirty="0">
                <a:latin typeface="+mn-ea"/>
              </a:rPr>
              <a:t>現段階のスコアリング</a:t>
            </a:r>
            <a:endParaRPr kumimoji="1" lang="en-US" altLang="ja-JP" sz="2400" dirty="0">
              <a:latin typeface="+mn-ea"/>
            </a:endParaRPr>
          </a:p>
          <a:p>
            <a:pPr marL="0" indent="0">
              <a:buNone/>
            </a:pPr>
            <a:r>
              <a:rPr kumimoji="1" lang="ja-JP" altLang="en-US" sz="2400" dirty="0">
                <a:latin typeface="+mn-ea"/>
              </a:rPr>
              <a:t>１．原因別集計部分で得られたタイポ原因の重み（発生割合）を使用</a:t>
            </a:r>
            <a:endParaRPr kumimoji="1" lang="en-US" altLang="ja-JP" sz="2400" dirty="0">
              <a:latin typeface="+mn-ea"/>
            </a:endParaRPr>
          </a:p>
          <a:p>
            <a:pPr marL="0" indent="0">
              <a:buNone/>
            </a:pPr>
            <a:r>
              <a:rPr lang="ja-JP" altLang="en-US" sz="2400" dirty="0">
                <a:latin typeface="+mn-ea"/>
              </a:rPr>
              <a:t>２．考えられるすべてのタイポパターン（隣接キー誤打、二重入力、入力漏れなど）を生成</a:t>
            </a:r>
            <a:endParaRPr lang="en-US" altLang="ja-JP" sz="2400" dirty="0">
              <a:latin typeface="+mn-ea"/>
            </a:endParaRPr>
          </a:p>
          <a:p>
            <a:pPr marL="0" indent="0">
              <a:buNone/>
            </a:pPr>
            <a:r>
              <a:rPr lang="ja-JP" altLang="en-US" sz="2400" dirty="0">
                <a:latin typeface="+mn-ea"/>
              </a:rPr>
              <a:t>３．スコアリングとランキング化</a:t>
            </a:r>
            <a:endParaRPr lang="en-US" altLang="ja-JP" sz="2400" dirty="0">
              <a:latin typeface="+mn-ea"/>
            </a:endParaRPr>
          </a:p>
        </p:txBody>
      </p:sp>
    </p:spTree>
    <p:extLst>
      <p:ext uri="{BB962C8B-B14F-4D97-AF65-F5344CB8AC3E}">
        <p14:creationId xmlns:p14="http://schemas.microsoft.com/office/powerpoint/2010/main" val="2755970003"/>
      </p:ext>
    </p:extLst>
  </p:cSld>
  <p:clrMapOvr>
    <a:masterClrMapping/>
  </p:clrMapOvr>
</p:sld>
</file>

<file path=ppt/theme/theme1.xml><?xml version="1.0" encoding="utf-8"?>
<a:theme xmlns:a="http://schemas.openxmlformats.org/drawingml/2006/main" name="20250604_全体ゼミ">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itsumei Futurize見出し">
      <a:majorFont>
        <a:latin typeface="游明朝 Demibold"/>
        <a:ea typeface="游明朝 Demibold"/>
        <a:cs typeface=""/>
      </a:majorFont>
      <a:minorFont>
        <a:latin typeface="游明朝 Demibold"/>
        <a:ea typeface="游明朝 Demi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itsFuturizeB(横長サイズ).pptx" id="{54B19328-301C-465F-8D4B-47EA995968DA}" vid="{F090BC0F-D974-4B82-B081-FA81012D8AB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107F8161E360D4DAACF3C8686ABC0D3" ma:contentTypeVersion="12" ma:contentTypeDescription="新しいドキュメントを作成します。" ma:contentTypeScope="" ma:versionID="442fa10dd766b01ec49a89281014b0c0">
  <xsd:schema xmlns:xsd="http://www.w3.org/2001/XMLSchema" xmlns:xs="http://www.w3.org/2001/XMLSchema" xmlns:p="http://schemas.microsoft.com/office/2006/metadata/properties" xmlns:ns3="bafe96fa-82eb-4752-ac47-75839dcc365b" xmlns:ns4="17f4d725-a695-4ac3-b392-61116b5096fa" targetNamespace="http://schemas.microsoft.com/office/2006/metadata/properties" ma:root="true" ma:fieldsID="17254abac3908ac3750377ed424f4320" ns3:_="" ns4:_="">
    <xsd:import namespace="bafe96fa-82eb-4752-ac47-75839dcc365b"/>
    <xsd:import namespace="17f4d725-a695-4ac3-b392-61116b5096f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fe96fa-82eb-4752-ac47-75839dcc3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f4d725-a695-4ac3-b392-61116b5096fa"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SharingHintHash" ma:index="14"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afe96fa-82eb-4752-ac47-75839dcc365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DEA976-C458-4BA0-ADFF-2123220B86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fe96fa-82eb-4752-ac47-75839dcc365b"/>
    <ds:schemaRef ds:uri="17f4d725-a695-4ac3-b392-61116b5096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DE04AF-1AF8-433A-8ACA-494EAA7021B7}">
  <ds:schemaRef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schemas.microsoft.com/office/infopath/2007/PartnerControls"/>
    <ds:schemaRef ds:uri="bafe96fa-82eb-4752-ac47-75839dcc365b"/>
    <ds:schemaRef ds:uri="http://www.w3.org/XML/1998/namespace"/>
    <ds:schemaRef ds:uri="17f4d725-a695-4ac3-b392-61116b5096fa"/>
    <ds:schemaRef ds:uri="http://purl.org/dc/dcmitype/"/>
    <ds:schemaRef ds:uri="http://purl.org/dc/terms/"/>
  </ds:schemaRefs>
</ds:datastoreItem>
</file>

<file path=customXml/itemProps3.xml><?xml version="1.0" encoding="utf-8"?>
<ds:datastoreItem xmlns:ds="http://schemas.openxmlformats.org/officeDocument/2006/customXml" ds:itemID="{36FF2EFB-D382-4167-BA24-F80D4B1A5FF9}">
  <ds:schemaRefs>
    <ds:schemaRef ds:uri="http://schemas.microsoft.com/sharepoint/v3/contenttype/forms"/>
  </ds:schemaRefs>
</ds:datastoreItem>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emplate>20250604_全体ゼミ</Template>
  <TotalTime>2265</TotalTime>
  <Words>842</Words>
  <Application>Microsoft Office PowerPoint</Application>
  <PresentationFormat>ワイド画面</PresentationFormat>
  <Paragraphs>105</Paragraphs>
  <Slides>20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游明朝 Demibold</vt:lpstr>
      <vt:lpstr>Arial</vt:lpstr>
      <vt:lpstr>Roboto</vt:lpstr>
      <vt:lpstr>20250604_全体ゼミ</vt:lpstr>
      <vt:lpstr>電子メールタイポスクワッティング対策の ための防御的ドメイン登録の提案 (仮)</vt:lpstr>
      <vt:lpstr>研究背景</vt:lpstr>
      <vt:lpstr>研究背景</vt:lpstr>
      <vt:lpstr>研究背景</vt:lpstr>
      <vt:lpstr>研究背景</vt:lpstr>
      <vt:lpstr>研究目的</vt:lpstr>
      <vt:lpstr>研究方法・流れ</vt:lpstr>
      <vt:lpstr>研究方法・流れ</vt:lpstr>
      <vt:lpstr>研究方法・流れ</vt:lpstr>
      <vt:lpstr>研究方法・流れ</vt:lpstr>
      <vt:lpstr>研究方法・流れ</vt:lpstr>
      <vt:lpstr>今後の研究方針・方向性</vt:lpstr>
      <vt:lpstr>今後の研究方針・方向性</vt:lpstr>
      <vt:lpstr>今後の研究方針・方向性</vt:lpstr>
      <vt:lpstr>今後の研究方針・方向性</vt:lpstr>
      <vt:lpstr>今後の研究方針・方向性</vt:lpstr>
      <vt:lpstr>前回の発表を踏まえて</vt:lpstr>
      <vt:lpstr>前回の発表を踏まえて</vt:lpstr>
      <vt:lpstr>最後に</vt:lpstr>
      <vt:lpstr>最後に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大西 優希(is0661fi)</dc:creator>
  <cp:lastModifiedBy>大西 優希(is0661fi)</cp:lastModifiedBy>
  <cp:revision>4</cp:revision>
  <dcterms:created xsi:type="dcterms:W3CDTF">2025-10-17T03:49:39Z</dcterms:created>
  <dcterms:modified xsi:type="dcterms:W3CDTF">2025-10-22T19:19:54Z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0x0101004107F8161E360D4DAACF3C8686ABC0D3</vt:lpwstr>
  </property>
</Properties>
</file>